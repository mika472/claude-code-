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8" r:id="rId20"/>
    <p:sldId id="264" r:id="rId14"/>
    <p:sldId id="265" r:id="rId15"/>
    <p:sldId id="266" r:id="rId16"/>
    <p:sldId id="269" r:id="rId21"/>
    <p:sldId id="270" r:id="rId22"/>
    <p:sldId id="267" r:id="rId17"/>
  </p:sldIdLst>
  <p:sldSz cy="6858000" cx="12192000"/>
  <p:notesSz cx="6858000" cy="9144000"/>
  <p:embeddedFontLst>
    <p:embeddedFont>
      <p:font typeface="Noto Sans JP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709A6FC-12A7-416E-90A0-6B173EBC8397}">
  <a:tblStyle styleId="{0709A6FC-12A7-416E-90A0-6B173EBC8397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
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otoSansJP-bold.fntdata"/><Relationship Id="rId6" Type="http://schemas.openxmlformats.org/officeDocument/2006/relationships/slide" Target="slides/slide1.xml"/><Relationship Id="rId18" Type="http://schemas.openxmlformats.org/officeDocument/2006/relationships/font" Target="fonts/NotoSansJP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  <Relationship Id="rId20" Type="http://schemas.openxmlformats.org/officeDocument/2006/relationships/slide" Target="slides/slide13.xml"/>
  <Relationship Id="rId21" Type="http://schemas.openxmlformats.org/officeDocument/2006/relationships/slide" Target="slides/slide14.xml"/>
  <Relationship Id="rId22" Type="http://schemas.openxmlformats.org/officeDocument/2006/relationships/slide" Target="slides/slide15.xml"/>
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表紙では、AIそのものよりも、図面・数量・人の確認がつながる研修だと伝えます。新しいCADへの移行提案ではなく、現在の仕事を活かす提案として始めます。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Cover visual: OpenAI ImageGen, generated for this proposal as a conceptual illustration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" name="Google Shape;26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冒頭はAIの機能説明から始めません。建築士、積算担当、AI初心者の全員が経験している負担を共有し、過去案件で検証する提案へつなげます。</a:t>
            </a:r>
            <a:endParaRPr/>
          </a:p>
        </p:txBody>
      </p:sp>
      <p:sp>
        <p:nvSpPr>
          <p:cNvPr id="27" name="Google Shape;27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研修の価値を、受講時間ではなく残る成果物で説明します。1案件の成果と、次の案件にも使える会社資産を分けて示します。</a:t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初心者には、AIが自由に見積を作る仕組みではないと説明します。専門家には、原本保護、決定論的計算、独立検算、人の承認という統制を説明します。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C:/Users/TakanoYuki/Desktop/claudecode/milee/astrise/README.md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C:/Users/TakanoYuki/Desktop/claudecode/milee/astrise/workspace-template/AGENTS.md</a:t>
            </a:r>
            <a:endParaRPr/>
          </a:p>
        </p:txBody>
      </p:sp>
      <p:sp>
        <p:nvSpPr>
          <p:cNvPr id="68" name="Google Shape;68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三つの区分を混ぜずに説明します。現行機能だけで研修を成立させ、情報提供で御社向けに調整できる部分と、未実装のロードマップを明確に分けます。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C:/Users/TakanoYuki/Desktop/claudecode/milee/astrise/plugins/sekisan-ai/skills/anken-shinkou/references/koutei.md</a:t>
            </a:r>
            <a:endParaRPr/>
          </a:p>
        </p:txBody>
      </p:sp>
      <p:sp>
        <p:nvSpPr>
          <p:cNvPr id="107" name="Google Shape;10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一流の建築士ほど気にする責任分界を明示します。自動化しない業務を示すことで、初心者にも安心して試せる理由を伝えます。</a:t>
            </a:r>
            <a:endParaRPr/>
          </a:p>
        </p:txBody>
      </p:sp>
      <p:sp>
        <p:nvSpPr>
          <p:cNvPr id="153" name="Google Shape;15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" name="Google Shape;164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安全性は抽象的な『AI倫理』ではなく、実際の操作を止める仕組みとして説明します。原本保護、要確認、独立検算、承認版の固定が中心です。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C:/Users/TakanoYuki/Desktop/claudecode/milee/astrise/CONTRACT.md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C:/Users/TakanoYuki/Desktop/claudecode/milee/astrise/plugins/sekisan-ai/hooks/hooks.json</a:t>
            </a:r>
            <a:endParaRPr/>
          </a:p>
        </p:txBody>
      </p:sp>
      <p:sp>
        <p:nvSpPr>
          <p:cNvPr id="165" name="Google Shape;165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" name="Google Shape;18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各回を座学で終わらせず、成果物を一つずつ積み上げます。参加者構成は標準案であり、先方の体制に合わせて調整します。</a:t>
            </a:r>
            <a:endParaRPr/>
          </a:p>
        </p:txBody>
      </p:sp>
      <p:sp>
        <p:nvSpPr>
          <p:cNvPr id="189" name="Google Shape;18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5" name="Google Shape;22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研修を始める前に、図面の権利、顧客情報、クラウドAIへの入力可否を確認します。データが不足する場合は、合成データまたは権利確認済みの過去案件で実施します。</a:t>
            </a:r>
            <a:endParaRPr/>
          </a:p>
        </p:txBody>
      </p:sp>
      <p:sp>
        <p:nvSpPr>
          <p:cNvPr id="226" name="Google Shape;22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" name="Google Shape;236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費用対効果の割合や短縮時間を事前に約束しません。研修前に従来作業の基準時間を測り、同じ案件で比較してから本格導入を判断します。</a:t>
            </a:r>
            <a:endParaRPr/>
          </a:p>
        </p:txBody>
      </p:sp>
      <p:sp>
        <p:nvSpPr>
          <p:cNvPr id="237" name="Google Shape;237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4" name="Google Shape;264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限界を隠さないことが、建築士に安心してもらう最も重要な要素です。現行の数量拾いは室面積・周長・ブロック建具が中心であり、全工種の自動積算ではありません。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Sources: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C:/Users/TakanoYuki/Desktop/claudecode/milee/astrise/plugins/sekisan-ai/core/src/sekisan_core/drawing/qty.py</a:t>
            </a:r>
            <a:endParaRPr/>
          </a:p>
        </p:txBody>
      </p:sp>
      <p:sp>
        <p:nvSpPr>
          <p:cNvPr id="265" name="Google Shape;265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最後は大規模導入ではなく、30分の事前診断を依頼します。対象案件、必要データ、検証可能な範囲を確認し、その後に研修内容と費用を確定する流れです。</a:t>
            </a:r>
            <a:endParaRPr/>
          </a:p>
        </p:txBody>
      </p:sp>
      <p:sp>
        <p:nvSpPr>
          <p:cNvPr id="293" name="Google Shape;293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 rotWithShape="1">
          <a:blip r:embed="rId3">
            <a:alphaModFix/>
          </a:blip>
          <a:srcRect b="27" l="0" r="0" t="27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0" y="0"/>
            <a:ext cx="5905500" cy="6858000"/>
          </a:xfrm>
          <a:prstGeom prst="rect">
            <a:avLst/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85800" y="723900"/>
            <a:ext cx="3905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25">
                <a:solidFill>
                  <a:srgbClr val="9FD6D1"/>
                </a:solidFill>
                <a:latin typeface="Noto Sans JP"/>
                <a:ea typeface="Noto Sans JP"/>
                <a:cs typeface="Noto Sans JP"/>
                <a:sym typeface="Noto Sans JP"/>
              </a:rPr>
              <a:t>アストライズ様向け</a:t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685800" y="1352550"/>
            <a:ext cx="47625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積算AI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実践研修のご提案</a:t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723900" y="3371850"/>
            <a:ext cx="4476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Jw_cadとExcelを活かし、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75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過去案件1件で効果と安全性を確かめる</a:t>
            </a:r>
            <a:endParaRPr/>
          </a:p>
        </p:txBody>
      </p:sp>
      <p:cxnSp>
        <p:nvCxnSpPr>
          <p:cNvPr id="21" name="Google Shape;21;p3"/>
          <p:cNvCxnSpPr/>
          <p:nvPr/>
        </p:nvCxnSpPr>
        <p:spPr>
          <a:xfrm>
            <a:off x="723900" y="4591050"/>
            <a:ext cx="876300" cy="0"/>
          </a:xfrm>
          <a:prstGeom prst="straightConnector1">
            <a:avLst/>
          </a:prstGeom>
          <a:noFill/>
          <a:ln cap="flat" cmpd="sng" w="57150">
            <a:solidFill>
              <a:srgbClr val="D96C3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3"/>
          <p:cNvSpPr/>
          <p:nvPr/>
        </p:nvSpPr>
        <p:spPr>
          <a:xfrm>
            <a:off x="723900" y="4800600"/>
            <a:ext cx="40005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DCE8EF"/>
                </a:solidFill>
                <a:latin typeface="Noto Sans JP"/>
                <a:ea typeface="Noto Sans JP"/>
                <a:cs typeface="Noto Sans JP"/>
                <a:sym typeface="Noto Sans JP"/>
              </a:rPr>
              <a:t>実案件で学ぶ 6回プログラム案</a:t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723900" y="6115050"/>
            <a:ext cx="2095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75">
                <a:solidFill>
                  <a:srgbClr val="A9BDC9"/>
                </a:solidFill>
                <a:latin typeface="Noto Sans JP"/>
                <a:ea typeface="Noto Sans JP"/>
                <a:cs typeface="Noto Sans JP"/>
                <a:sym typeface="Noto Sans JP"/>
              </a:rPr>
              <a:t>2026年10月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C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F8A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4"/>
          <p:cNvSpPr/>
          <p:nvPr/>
        </p:nvSpPr>
        <p:spPr>
          <a:xfrm>
            <a:off x="609600" y="400050"/>
            <a:ext cx="10572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02A43"/>
                </a:solidFill>
                <a:latin typeface="Noto Sans JP"/>
                <a:ea typeface="Noto Sans JP"/>
                <a:cs typeface="Noto Sans JP"/>
                <a:sym typeface="Noto Sans JP"/>
              </a:rPr>
              <a:t>積算の負担は、作業時間だけではない</a:t>
            </a:r>
            <a:endParaRPr/>
          </a:p>
        </p:txBody>
      </p:sp>
      <p:cxnSp>
        <p:nvCxnSpPr>
          <p:cNvPr id="31" name="Google Shape;31;p4"/>
          <p:cNvCxnSpPr/>
          <p:nvPr/>
        </p:nvCxnSpPr>
        <p:spPr>
          <a:xfrm>
            <a:off x="609600" y="1066800"/>
            <a:ext cx="10858500" cy="0"/>
          </a:xfrm>
          <a:prstGeom prst="straightConnector1">
            <a:avLst/>
          </a:prstGeom>
          <a:noFill/>
          <a:ln cap="flat" cmpd="sng" w="9525">
            <a:solidFill>
              <a:srgbClr val="C9D2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4"/>
          <p:cNvSpPr/>
          <p:nvPr/>
        </p:nvSpPr>
        <p:spPr>
          <a:xfrm>
            <a:off x="11239500" y="6343650"/>
            <a:ext cx="457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0717E"/>
                </a:solidFill>
                <a:latin typeface="Noto Sans JP"/>
                <a:ea typeface="Noto Sans JP"/>
                <a:cs typeface="Noto Sans JP"/>
                <a:sym typeface="Noto Sans JP"/>
              </a:rPr>
              <a:t>02</a:t>
            </a:r>
            <a:endParaRPr/>
          </a:p>
        </p:txBody>
      </p:sp>
      <p:sp>
        <p:nvSpPr>
          <p:cNvPr id="33" name="Google Shape;33;p4"/>
          <p:cNvSpPr/>
          <p:nvPr/>
        </p:nvSpPr>
        <p:spPr>
          <a:xfrm>
            <a:off x="685800" y="1428750"/>
            <a:ext cx="552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D96C32"/>
                </a:solidFill>
                <a:latin typeface="Noto Sans JP"/>
                <a:ea typeface="Noto Sans JP"/>
                <a:cs typeface="Noto Sans JP"/>
                <a:sym typeface="Noto Sans JP"/>
              </a:rPr>
              <a:t>01</a:t>
            </a:r>
            <a:endParaRPr/>
          </a:p>
        </p:txBody>
      </p:sp>
      <p:cxnSp>
        <p:nvCxnSpPr>
          <p:cNvPr id="34" name="Google Shape;34;p4"/>
          <p:cNvCxnSpPr/>
          <p:nvPr/>
        </p:nvCxnSpPr>
        <p:spPr>
          <a:xfrm>
            <a:off x="685800" y="1943100"/>
            <a:ext cx="2857500" cy="0"/>
          </a:xfrm>
          <a:prstGeom prst="straightConnector1">
            <a:avLst/>
          </a:prstGeom>
          <a:noFill/>
          <a:ln cap="flat" cmpd="sng" w="28575">
            <a:solidFill>
              <a:srgbClr val="1F8A8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" name="Google Shape;35;p4"/>
          <p:cNvSpPr/>
          <p:nvPr/>
        </p:nvSpPr>
        <p:spPr>
          <a:xfrm>
            <a:off x="685800" y="2152650"/>
            <a:ext cx="28575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02A43"/>
                </a:solidFill>
                <a:latin typeface="Noto Sans JP"/>
                <a:ea typeface="Noto Sans JP"/>
                <a:cs typeface="Noto Sans JP"/>
                <a:sym typeface="Noto Sans JP"/>
              </a:rPr>
              <a:t>図面とExcelを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02A43"/>
                </a:solidFill>
                <a:latin typeface="Noto Sans JP"/>
                <a:ea typeface="Noto Sans JP"/>
                <a:cs typeface="Noto Sans JP"/>
                <a:sym typeface="Noto Sans JP"/>
              </a:rPr>
              <a:t>何度も行き来する</a:t>
            </a:r>
            <a:endParaRPr/>
          </a:p>
        </p:txBody>
      </p:sp>
      <p:sp>
        <p:nvSpPr>
          <p:cNvPr id="36" name="Google Shape;36;p4"/>
          <p:cNvSpPr/>
          <p:nvPr/>
        </p:nvSpPr>
        <p:spPr>
          <a:xfrm>
            <a:off x="685800" y="3314700"/>
            <a:ext cx="29718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数量拾い、転記、単価検索が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別々の作業になり、改訂のたびに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確認が増えます。</a:t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324350" y="1428750"/>
            <a:ext cx="552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D96C32"/>
                </a:solidFill>
                <a:latin typeface="Noto Sans JP"/>
                <a:ea typeface="Noto Sans JP"/>
                <a:cs typeface="Noto Sans JP"/>
                <a:sym typeface="Noto Sans JP"/>
              </a:rPr>
              <a:t>02</a:t>
            </a:r>
            <a:endParaRPr/>
          </a:p>
        </p:txBody>
      </p:sp>
      <p:cxnSp>
        <p:nvCxnSpPr>
          <p:cNvPr id="38" name="Google Shape;38;p4"/>
          <p:cNvCxnSpPr/>
          <p:nvPr/>
        </p:nvCxnSpPr>
        <p:spPr>
          <a:xfrm>
            <a:off x="4324350" y="1943100"/>
            <a:ext cx="2857500" cy="0"/>
          </a:xfrm>
          <a:prstGeom prst="straightConnector1">
            <a:avLst/>
          </a:prstGeom>
          <a:noFill/>
          <a:ln cap="flat" cmpd="sng" w="28575">
            <a:solidFill>
              <a:srgbClr val="1F8A8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" name="Google Shape;39;p4"/>
          <p:cNvSpPr/>
          <p:nvPr/>
        </p:nvSpPr>
        <p:spPr>
          <a:xfrm>
            <a:off x="4324350" y="2152650"/>
            <a:ext cx="28575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02A43"/>
                </a:solidFill>
                <a:latin typeface="Noto Sans JP"/>
                <a:ea typeface="Noto Sans JP"/>
                <a:cs typeface="Noto Sans JP"/>
                <a:sym typeface="Noto Sans JP"/>
              </a:rPr>
              <a:t>判断が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02A43"/>
                </a:solidFill>
                <a:latin typeface="Noto Sans JP"/>
                <a:ea typeface="Noto Sans JP"/>
                <a:cs typeface="Noto Sans JP"/>
                <a:sym typeface="Noto Sans JP"/>
              </a:rPr>
              <a:t>ベテランに集中する</a:t>
            </a:r>
            <a:endParaRPr/>
          </a:p>
        </p:txBody>
      </p:sp>
      <p:sp>
        <p:nvSpPr>
          <p:cNvPr id="40" name="Google Shape;40;p4"/>
          <p:cNvSpPr/>
          <p:nvPr/>
        </p:nvSpPr>
        <p:spPr>
          <a:xfrm>
            <a:off x="4324350" y="3314700"/>
            <a:ext cx="29718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設計事務所ごとの描き方や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見積範囲が担当者の経験に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残りやすくなります。</a:t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7962900" y="1428750"/>
            <a:ext cx="5524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D96C32"/>
                </a:solidFill>
                <a:latin typeface="Noto Sans JP"/>
                <a:ea typeface="Noto Sans JP"/>
                <a:cs typeface="Noto Sans JP"/>
                <a:sym typeface="Noto Sans JP"/>
              </a:rPr>
              <a:t>03</a:t>
            </a:r>
            <a:endParaRPr/>
          </a:p>
        </p:txBody>
      </p:sp>
      <p:cxnSp>
        <p:nvCxnSpPr>
          <p:cNvPr id="42" name="Google Shape;42;p4"/>
          <p:cNvCxnSpPr/>
          <p:nvPr/>
        </p:nvCxnSpPr>
        <p:spPr>
          <a:xfrm>
            <a:off x="7962900" y="1943100"/>
            <a:ext cx="2857500" cy="0"/>
          </a:xfrm>
          <a:prstGeom prst="straightConnector1">
            <a:avLst/>
          </a:prstGeom>
          <a:noFill/>
          <a:ln cap="flat" cmpd="sng" w="28575">
            <a:solidFill>
              <a:srgbClr val="D96C3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" name="Google Shape;43;p4"/>
          <p:cNvSpPr/>
          <p:nvPr/>
        </p:nvSpPr>
        <p:spPr>
          <a:xfrm>
            <a:off x="7962900" y="2152650"/>
            <a:ext cx="28575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02A43"/>
                </a:solidFill>
                <a:latin typeface="Noto Sans JP"/>
                <a:ea typeface="Noto Sans JP"/>
                <a:cs typeface="Noto Sans JP"/>
                <a:sym typeface="Noto Sans JP"/>
              </a:rPr>
              <a:t>AIを使いたくても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102A43"/>
                </a:solidFill>
                <a:latin typeface="Noto Sans JP"/>
                <a:ea typeface="Noto Sans JP"/>
                <a:cs typeface="Noto Sans JP"/>
                <a:sym typeface="Noto Sans JP"/>
              </a:rPr>
              <a:t>線引きが難しい</a:t>
            </a: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7962900" y="3314700"/>
            <a:ext cx="29718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誤数量、情報の取扱い、責任が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不安で、便利でも業務に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00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入れにくい状態です。</a:t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685800" y="5353050"/>
            <a:ext cx="10820400" cy="781050"/>
          </a:xfrm>
          <a:prstGeom prst="roundRect">
            <a:avLst>
              <a:gd fmla="val 9756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914400" y="5524500"/>
            <a:ext cx="103632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全面導入を決める前に、過去案件1件で効果と安全性を確かめます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C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5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F8A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609600" y="400050"/>
            <a:ext cx="10572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02A43"/>
                </a:solidFill>
                <a:latin typeface="Noto Sans JP"/>
                <a:ea typeface="Noto Sans JP"/>
                <a:cs typeface="Noto Sans JP"/>
                <a:sym typeface="Noto Sans JP"/>
              </a:rPr>
              <a:t>研修後に残るもの</a:t>
            </a:r>
            <a:endParaRPr/>
          </a:p>
        </p:txBody>
      </p:sp>
      <p:cxnSp>
        <p:nvCxnSpPr>
          <p:cNvPr id="54" name="Google Shape;54;p5"/>
          <p:cNvCxnSpPr/>
          <p:nvPr/>
        </p:nvCxnSpPr>
        <p:spPr>
          <a:xfrm>
            <a:off x="609600" y="1066800"/>
            <a:ext cx="10858500" cy="0"/>
          </a:xfrm>
          <a:prstGeom prst="straightConnector1">
            <a:avLst/>
          </a:prstGeom>
          <a:noFill/>
          <a:ln cap="flat" cmpd="sng" w="9525">
            <a:solidFill>
              <a:srgbClr val="C9D2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" name="Google Shape;55;p5"/>
          <p:cNvSpPr/>
          <p:nvPr/>
        </p:nvSpPr>
        <p:spPr>
          <a:xfrm>
            <a:off x="11239500" y="6343650"/>
            <a:ext cx="457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0717E"/>
                </a:solidFill>
                <a:latin typeface="Noto Sans JP"/>
                <a:ea typeface="Noto Sans JP"/>
                <a:cs typeface="Noto Sans JP"/>
                <a:sym typeface="Noto Sans JP"/>
              </a:rPr>
              <a:t>03</a:t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895350" y="1428750"/>
            <a:ext cx="1038225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25">
                <a:solidFill>
                  <a:srgbClr val="102A43"/>
                </a:solidFill>
                <a:latin typeface="Noto Sans JP"/>
                <a:ea typeface="Noto Sans JP"/>
                <a:cs typeface="Noto Sans JP"/>
                <a:sym typeface="Noto Sans JP"/>
              </a:rPr>
              <a:t>過去案件1件を、図面から見積の下書きまで通す</a:t>
            </a:r>
            <a:endParaRPr/>
          </a:p>
        </p:txBody>
      </p:sp>
      <p:cxnSp>
        <p:nvCxnSpPr>
          <p:cNvPr id="57" name="Google Shape;57;p5"/>
          <p:cNvCxnSpPr/>
          <p:nvPr/>
        </p:nvCxnSpPr>
        <p:spPr>
          <a:xfrm>
            <a:off x="6096000" y="2247900"/>
            <a:ext cx="0" cy="3048000"/>
          </a:xfrm>
          <a:prstGeom prst="straightConnector1">
            <a:avLst/>
          </a:prstGeom>
          <a:noFill/>
          <a:ln cap="flat" cmpd="sng" w="19050">
            <a:solidFill>
              <a:srgbClr val="C9D2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" name="Google Shape;58;p5"/>
          <p:cNvSpPr/>
          <p:nvPr/>
        </p:nvSpPr>
        <p:spPr>
          <a:xfrm>
            <a:off x="1524000" y="2343150"/>
            <a:ext cx="1428750" cy="323850"/>
          </a:xfrm>
          <a:prstGeom prst="roundRect">
            <a:avLst>
              <a:gd fmla="val 23529" name="adj"/>
            </a:avLst>
          </a:prstGeom>
          <a:solidFill>
            <a:srgbClr val="1F8A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1600200" y="2352675"/>
            <a:ext cx="12763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案件の成果</a:t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1257300" y="2933700"/>
            <a:ext cx="3619500" cy="2190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数量調書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拾い根拠図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見積書ドラフト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検算レポート</a:t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7734300" y="2343150"/>
            <a:ext cx="1809750" cy="323850"/>
          </a:xfrm>
          <a:prstGeom prst="roundRect">
            <a:avLst>
              <a:gd fmla="val 23529" name="adj"/>
            </a:avLst>
          </a:prstGeom>
          <a:solidFill>
            <a:srgbClr val="D96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"/>
          <p:cNvSpPr/>
          <p:nvPr/>
        </p:nvSpPr>
        <p:spPr>
          <a:xfrm>
            <a:off x="7810500" y="2352675"/>
            <a:ext cx="16573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会社に残る資産</a:t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7143750" y="2933700"/>
            <a:ext cx="3810000" cy="2190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単価マスタ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レイヤ読み替え基準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拾い方ルール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75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運用・承認手順</a:t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1714500" y="5657850"/>
            <a:ext cx="87630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377B61"/>
                </a:solidFill>
                <a:latin typeface="Noto Sans JP"/>
                <a:ea typeface="Noto Sans JP"/>
                <a:cs typeface="Noto Sans JP"/>
                <a:sym typeface="Noto Sans JP"/>
              </a:rPr>
              <a:t>研修後も、同じ図面形式とルールで次の案件に使えます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C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" name="Google Shape;70;p6"/>
          <p:cNvCxnSpPr>
            <a:stCxn id="71" idx="3"/>
            <a:endCxn id="72" idx="1"/>
          </p:cNvCxnSpPr>
          <p:nvPr/>
        </p:nvCxnSpPr>
        <p:spPr>
          <a:xfrm>
            <a:off x="9791700" y="2847975"/>
            <a:ext cx="324000" cy="0"/>
          </a:xfrm>
          <a:prstGeom prst="straightConnector1">
            <a:avLst/>
          </a:prstGeom>
          <a:noFill/>
          <a:ln cap="flat" cmpd="sng" w="19050">
            <a:solidFill>
              <a:srgbClr val="60717E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73" name="Google Shape;73;p6"/>
          <p:cNvCxnSpPr>
            <a:stCxn id="74" idx="3"/>
            <a:endCxn id="71" idx="1"/>
          </p:cNvCxnSpPr>
          <p:nvPr/>
        </p:nvCxnSpPr>
        <p:spPr>
          <a:xfrm>
            <a:off x="7886700" y="2847975"/>
            <a:ext cx="324000" cy="0"/>
          </a:xfrm>
          <a:prstGeom prst="straightConnector1">
            <a:avLst/>
          </a:prstGeom>
          <a:noFill/>
          <a:ln cap="flat" cmpd="sng" w="19050">
            <a:solidFill>
              <a:srgbClr val="60717E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75" name="Google Shape;75;p6"/>
          <p:cNvCxnSpPr>
            <a:stCxn id="76" idx="3"/>
            <a:endCxn id="74" idx="1"/>
          </p:cNvCxnSpPr>
          <p:nvPr/>
        </p:nvCxnSpPr>
        <p:spPr>
          <a:xfrm>
            <a:off x="5981700" y="2847975"/>
            <a:ext cx="324000" cy="0"/>
          </a:xfrm>
          <a:prstGeom prst="straightConnector1">
            <a:avLst/>
          </a:prstGeom>
          <a:noFill/>
          <a:ln cap="flat" cmpd="sng" w="19050">
            <a:solidFill>
              <a:srgbClr val="60717E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77" name="Google Shape;77;p6"/>
          <p:cNvCxnSpPr>
            <a:stCxn id="78" idx="3"/>
            <a:endCxn id="76" idx="1"/>
          </p:cNvCxnSpPr>
          <p:nvPr/>
        </p:nvCxnSpPr>
        <p:spPr>
          <a:xfrm>
            <a:off x="4076700" y="2847975"/>
            <a:ext cx="324000" cy="0"/>
          </a:xfrm>
          <a:prstGeom prst="straightConnector1">
            <a:avLst/>
          </a:prstGeom>
          <a:noFill/>
          <a:ln cap="flat" cmpd="sng" w="19050">
            <a:solidFill>
              <a:srgbClr val="60717E"/>
            </a:solidFill>
            <a:prstDash val="solid"/>
            <a:round/>
            <a:headEnd len="sm" w="sm" type="none"/>
            <a:tailEnd len="sm" w="sm" type="triangle"/>
          </a:ln>
        </p:spPr>
      </p:cxnSp>
      <p:cxnSp>
        <p:nvCxnSpPr>
          <p:cNvPr id="79" name="Google Shape;79;p6"/>
          <p:cNvCxnSpPr>
            <a:stCxn id="80" idx="3"/>
            <a:endCxn id="78" idx="1"/>
          </p:cNvCxnSpPr>
          <p:nvPr/>
        </p:nvCxnSpPr>
        <p:spPr>
          <a:xfrm>
            <a:off x="2171700" y="2847975"/>
            <a:ext cx="324000" cy="0"/>
          </a:xfrm>
          <a:prstGeom prst="straightConnector1">
            <a:avLst/>
          </a:prstGeom>
          <a:noFill/>
          <a:ln cap="flat" cmpd="sng" w="19050">
            <a:solidFill>
              <a:srgbClr val="60717E"/>
            </a:solidFill>
            <a:prstDash val="solid"/>
            <a:round/>
            <a:headEnd len="sm" w="sm" type="none"/>
            <a:tailEnd len="sm" w="sm" type="triangle"/>
          </a:ln>
        </p:spPr>
      </p:cxnSp>
      <p:sp>
        <p:nvSpPr>
          <p:cNvPr id="81" name="Google Shape;81;p6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F8A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609600" y="400050"/>
            <a:ext cx="10572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02A43"/>
                </a:solidFill>
                <a:latin typeface="Noto Sans JP"/>
                <a:ea typeface="Noto Sans JP"/>
                <a:cs typeface="Noto Sans JP"/>
                <a:sym typeface="Noto Sans JP"/>
              </a:rPr>
              <a:t>システムの基本構造</a:t>
            </a:r>
            <a:endParaRPr/>
          </a:p>
        </p:txBody>
      </p:sp>
      <p:cxnSp>
        <p:nvCxnSpPr>
          <p:cNvPr id="83" name="Google Shape;83;p6"/>
          <p:cNvCxnSpPr/>
          <p:nvPr/>
        </p:nvCxnSpPr>
        <p:spPr>
          <a:xfrm>
            <a:off x="609600" y="1066800"/>
            <a:ext cx="10858500" cy="0"/>
          </a:xfrm>
          <a:prstGeom prst="straightConnector1">
            <a:avLst/>
          </a:prstGeom>
          <a:noFill/>
          <a:ln cap="flat" cmpd="sng" w="9525">
            <a:solidFill>
              <a:srgbClr val="C9D2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" name="Google Shape;84;p6"/>
          <p:cNvSpPr/>
          <p:nvPr/>
        </p:nvSpPr>
        <p:spPr>
          <a:xfrm>
            <a:off x="11239500" y="6343650"/>
            <a:ext cx="457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0717E"/>
                </a:solidFill>
                <a:latin typeface="Noto Sans JP"/>
                <a:ea typeface="Noto Sans JP"/>
                <a:cs typeface="Noto Sans JP"/>
                <a:sym typeface="Noto Sans JP"/>
              </a:rPr>
              <a:t>04</a:t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590550" y="2095500"/>
            <a:ext cx="1581150" cy="1504950"/>
          </a:xfrm>
          <a:prstGeom prst="roundRect">
            <a:avLst>
              <a:gd fmla="val 5063" name="adj"/>
            </a:avLst>
          </a:prstGeom>
          <a:solidFill>
            <a:srgbClr val="FFFFFF"/>
          </a:solidFill>
          <a:ln cap="flat" cmpd="sng" w="19050">
            <a:solidFill>
              <a:srgbClr val="C9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685800" y="2343150"/>
            <a:ext cx="13906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63">
                <a:solidFill>
                  <a:srgbClr val="102A43"/>
                </a:solidFill>
                <a:latin typeface="Noto Sans JP"/>
                <a:ea typeface="Noto Sans JP"/>
                <a:cs typeface="Noto Sans JP"/>
                <a:sym typeface="Noto Sans JP"/>
              </a:rPr>
              <a:t>受領図面・単価表</a:t>
            </a:r>
            <a:endParaRPr/>
          </a:p>
        </p:txBody>
      </p:sp>
      <p:sp>
        <p:nvSpPr>
          <p:cNvPr id="86" name="Google Shape;86;p6"/>
          <p:cNvSpPr/>
          <p:nvPr/>
        </p:nvSpPr>
        <p:spPr>
          <a:xfrm>
            <a:off x="704850" y="3028950"/>
            <a:ext cx="13525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0717E"/>
                </a:solidFill>
                <a:latin typeface="Noto Sans JP"/>
                <a:ea typeface="Noto Sans JP"/>
                <a:cs typeface="Noto Sans JP"/>
                <a:sym typeface="Noto Sans JP"/>
              </a:rPr>
              <a:t>原本を保護</a:t>
            </a: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2495550" y="2095500"/>
            <a:ext cx="1581150" cy="1504950"/>
          </a:xfrm>
          <a:prstGeom prst="roundRect">
            <a:avLst>
              <a:gd fmla="val 5063" name="adj"/>
            </a:avLst>
          </a:prstGeom>
          <a:solidFill>
            <a:srgbClr val="FFFFFF"/>
          </a:solidFill>
          <a:ln cap="flat" cmpd="sng" w="19050">
            <a:solidFill>
              <a:srgbClr val="C9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2590800" y="2343150"/>
            <a:ext cx="13906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63">
                <a:solidFill>
                  <a:srgbClr val="102A43"/>
                </a:solidFill>
                <a:latin typeface="Noto Sans JP"/>
                <a:ea typeface="Noto Sans JP"/>
                <a:cs typeface="Noto Sans JP"/>
                <a:sym typeface="Noto Sans JP"/>
              </a:rPr>
              <a:t>決められた計算</a:t>
            </a:r>
            <a:endParaRPr/>
          </a:p>
        </p:txBody>
      </p:sp>
      <p:sp>
        <p:nvSpPr>
          <p:cNvPr id="88" name="Google Shape;88;p6"/>
          <p:cNvSpPr/>
          <p:nvPr/>
        </p:nvSpPr>
        <p:spPr>
          <a:xfrm>
            <a:off x="2609850" y="3028950"/>
            <a:ext cx="13525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32">
                <a:solidFill>
                  <a:srgbClr val="60717E"/>
                </a:solidFill>
                <a:latin typeface="Noto Sans JP"/>
                <a:ea typeface="Noto Sans JP"/>
                <a:cs typeface="Noto Sans JP"/>
                <a:sym typeface="Noto Sans JP"/>
              </a:rPr>
              <a:t>AIは数字を作らない</a:t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4400550" y="2095500"/>
            <a:ext cx="1581150" cy="1504950"/>
          </a:xfrm>
          <a:prstGeom prst="roundRect">
            <a:avLst>
              <a:gd fmla="val 5063" name="adj"/>
            </a:avLst>
          </a:prstGeom>
          <a:solidFill>
            <a:srgbClr val="FFFFFF"/>
          </a:solidFill>
          <a:ln cap="flat" cmpd="sng" w="19050">
            <a:solidFill>
              <a:srgbClr val="C9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4495800" y="2343150"/>
            <a:ext cx="13906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02A43"/>
                </a:solidFill>
                <a:latin typeface="Noto Sans JP"/>
                <a:ea typeface="Noto Sans JP"/>
                <a:cs typeface="Noto Sans JP"/>
                <a:sym typeface="Noto Sans JP"/>
              </a:rPr>
              <a:t>数量調書</a:t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4514850" y="3028950"/>
            <a:ext cx="13525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0717E"/>
                </a:solidFill>
                <a:latin typeface="Noto Sans JP"/>
                <a:ea typeface="Noto Sans JP"/>
                <a:cs typeface="Noto Sans JP"/>
                <a:sym typeface="Noto Sans JP"/>
              </a:rPr>
              <a:t>根拠を記録</a:t>
            </a:r>
            <a:endParaRPr/>
          </a:p>
        </p:txBody>
      </p:sp>
      <p:sp>
        <p:nvSpPr>
          <p:cNvPr id="74" name="Google Shape;74;p6"/>
          <p:cNvSpPr/>
          <p:nvPr/>
        </p:nvSpPr>
        <p:spPr>
          <a:xfrm>
            <a:off x="6305550" y="2095500"/>
            <a:ext cx="1581150" cy="1504950"/>
          </a:xfrm>
          <a:prstGeom prst="roundRect">
            <a:avLst>
              <a:gd fmla="val 5063" name="adj"/>
            </a:avLst>
          </a:prstGeom>
          <a:solidFill>
            <a:srgbClr val="DFF1EF"/>
          </a:solidFill>
          <a:ln cap="flat" cmpd="sng" w="19050">
            <a:solidFill>
              <a:srgbClr val="1F8A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6400800" y="2343150"/>
            <a:ext cx="13906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02A43"/>
                </a:solidFill>
                <a:latin typeface="Noto Sans JP"/>
                <a:ea typeface="Noto Sans JP"/>
                <a:cs typeface="Noto Sans JP"/>
                <a:sym typeface="Noto Sans JP"/>
              </a:rPr>
              <a:t>独立検算</a:t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6419850" y="3028950"/>
            <a:ext cx="13525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0717E"/>
                </a:solidFill>
                <a:latin typeface="Noto Sans JP"/>
                <a:ea typeface="Noto Sans JP"/>
                <a:cs typeface="Noto Sans JP"/>
                <a:sym typeface="Noto Sans JP"/>
              </a:rPr>
              <a:t>別経路で再計算</a:t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8210550" y="2095500"/>
            <a:ext cx="1581150" cy="1504950"/>
          </a:xfrm>
          <a:prstGeom prst="roundRect">
            <a:avLst>
              <a:gd fmla="val 5063" name="adj"/>
            </a:avLst>
          </a:prstGeom>
          <a:solidFill>
            <a:srgbClr val="F8E5DA"/>
          </a:solidFill>
          <a:ln cap="flat" cmpd="sng" w="19050">
            <a:solidFill>
              <a:srgbClr val="D96C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6"/>
          <p:cNvSpPr/>
          <p:nvPr/>
        </p:nvSpPr>
        <p:spPr>
          <a:xfrm>
            <a:off x="8305800" y="2343150"/>
            <a:ext cx="13906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02A43"/>
                </a:solidFill>
                <a:latin typeface="Noto Sans JP"/>
                <a:ea typeface="Noto Sans JP"/>
                <a:cs typeface="Noto Sans JP"/>
                <a:sym typeface="Noto Sans JP"/>
              </a:rPr>
              <a:t>人の承認</a:t>
            </a:r>
            <a:endParaRPr/>
          </a:p>
        </p:txBody>
      </p:sp>
      <p:sp>
        <p:nvSpPr>
          <p:cNvPr id="94" name="Google Shape;94;p6"/>
          <p:cNvSpPr/>
          <p:nvPr/>
        </p:nvSpPr>
        <p:spPr>
          <a:xfrm>
            <a:off x="8324850" y="3028950"/>
            <a:ext cx="13525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0717E"/>
                </a:solidFill>
                <a:latin typeface="Noto Sans JP"/>
                <a:ea typeface="Noto Sans JP"/>
                <a:cs typeface="Noto Sans JP"/>
                <a:sym typeface="Noto Sans JP"/>
              </a:rPr>
              <a:t>不明点を確認</a:t>
            </a: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10115550" y="2095500"/>
            <a:ext cx="1581150" cy="1504950"/>
          </a:xfrm>
          <a:prstGeom prst="roundRect">
            <a:avLst>
              <a:gd fmla="val 5063" name="adj"/>
            </a:avLst>
          </a:prstGeom>
          <a:solidFill>
            <a:srgbClr val="FFFFFF"/>
          </a:solidFill>
          <a:ln cap="flat" cmpd="sng" w="19050">
            <a:solidFill>
              <a:srgbClr val="C9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6"/>
          <p:cNvSpPr/>
          <p:nvPr/>
        </p:nvSpPr>
        <p:spPr>
          <a:xfrm>
            <a:off x="10210800" y="2343150"/>
            <a:ext cx="13906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02A43"/>
                </a:solidFill>
                <a:latin typeface="Noto Sans JP"/>
                <a:ea typeface="Noto Sans JP"/>
                <a:cs typeface="Noto Sans JP"/>
                <a:sym typeface="Noto Sans JP"/>
              </a:rPr>
              <a:t>見積ドラフト</a:t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10229850" y="3028950"/>
            <a:ext cx="1352550" cy="3619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0717E"/>
                </a:solidFill>
                <a:latin typeface="Noto Sans JP"/>
                <a:ea typeface="Noto Sans JP"/>
                <a:cs typeface="Noto Sans JP"/>
                <a:sym typeface="Noto Sans JP"/>
              </a:rPr>
              <a:t>提出は人が判断</a:t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1276350" y="4476750"/>
            <a:ext cx="857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D96C32"/>
                </a:solidFill>
                <a:latin typeface="Noto Sans JP"/>
                <a:ea typeface="Noto Sans JP"/>
                <a:cs typeface="Noto Sans JP"/>
                <a:sym typeface="Noto Sans JP"/>
              </a:rPr>
              <a:t>数字</a:t>
            </a:r>
            <a:endParaRPr/>
          </a:p>
        </p:txBody>
      </p:sp>
      <p:sp>
        <p:nvSpPr>
          <p:cNvPr id="98" name="Google Shape;98;p6"/>
          <p:cNvSpPr/>
          <p:nvPr/>
        </p:nvSpPr>
        <p:spPr>
          <a:xfrm>
            <a:off x="2152650" y="443865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計算プログラムが算出</a:t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4752975" y="4476750"/>
            <a:ext cx="857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D96C32"/>
                </a:solidFill>
                <a:latin typeface="Noto Sans JP"/>
                <a:ea typeface="Noto Sans JP"/>
                <a:cs typeface="Noto Sans JP"/>
                <a:sym typeface="Noto Sans JP"/>
              </a:rPr>
              <a:t>不明点</a:t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5629275" y="443865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空欄と要確認で停止</a:t>
            </a:r>
            <a:endParaRPr/>
          </a:p>
        </p:txBody>
      </p:sp>
      <p:sp>
        <p:nvSpPr>
          <p:cNvPr id="101" name="Google Shape;101;p6"/>
          <p:cNvSpPr/>
          <p:nvPr/>
        </p:nvSpPr>
        <p:spPr>
          <a:xfrm>
            <a:off x="8229600" y="4476750"/>
            <a:ext cx="85725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D96C32"/>
                </a:solidFill>
                <a:latin typeface="Noto Sans JP"/>
                <a:ea typeface="Noto Sans JP"/>
                <a:cs typeface="Noto Sans JP"/>
                <a:sym typeface="Noto Sans JP"/>
              </a:rPr>
              <a:t>責任</a:t>
            </a:r>
            <a:endParaRPr/>
          </a:p>
        </p:txBody>
      </p:sp>
      <p:sp>
        <p:nvSpPr>
          <p:cNvPr id="102" name="Google Shape;102;p6"/>
          <p:cNvSpPr/>
          <p:nvPr/>
        </p:nvSpPr>
        <p:spPr>
          <a:xfrm>
            <a:off x="9105900" y="4438650"/>
            <a:ext cx="2362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最終確認と提出は人</a:t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1428750" y="5467350"/>
            <a:ext cx="93345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102A43"/>
                </a:solidFill>
                <a:latin typeface="Noto Sans JP"/>
                <a:ea typeface="Noto Sans JP"/>
                <a:cs typeface="Noto Sans JP"/>
                <a:sym typeface="Noto Sans JP"/>
              </a:rPr>
              <a:t>AIを信用するのではなく、計算結果・ファイル・承認記録で確かめます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C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F8A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609600" y="400050"/>
            <a:ext cx="10572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02A43"/>
                </a:solidFill>
                <a:latin typeface="Noto Sans JP"/>
                <a:ea typeface="Noto Sans JP"/>
                <a:cs typeface="Noto Sans JP"/>
                <a:sym typeface="Noto Sans JP"/>
              </a:rPr>
              <a:t>現在できること、情報があればできること、今後の実装</a:t>
            </a:r>
            <a:endParaRPr/>
          </a:p>
        </p:txBody>
      </p:sp>
      <p:cxnSp>
        <p:nvCxnSpPr>
          <p:cNvPr id="111" name="Google Shape;111;p7"/>
          <p:cNvCxnSpPr/>
          <p:nvPr/>
        </p:nvCxnSpPr>
        <p:spPr>
          <a:xfrm>
            <a:off x="609600" y="1066800"/>
            <a:ext cx="10858500" cy="0"/>
          </a:xfrm>
          <a:prstGeom prst="straightConnector1">
            <a:avLst/>
          </a:prstGeom>
          <a:noFill/>
          <a:ln cap="flat" cmpd="sng" w="9525">
            <a:solidFill>
              <a:srgbClr val="C9D2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7"/>
          <p:cNvSpPr/>
          <p:nvPr/>
        </p:nvSpPr>
        <p:spPr>
          <a:xfrm>
            <a:off x="11239500" y="6343650"/>
            <a:ext cx="457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0717E"/>
                </a:solidFill>
                <a:latin typeface="Noto Sans JP"/>
                <a:ea typeface="Noto Sans JP"/>
                <a:cs typeface="Noto Sans JP"/>
                <a:sym typeface="Noto Sans JP"/>
              </a:rPr>
              <a:t>05</a:t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590550" y="1428750"/>
            <a:ext cx="3429000" cy="436245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9525">
            <a:solidFill>
              <a:srgbClr val="C9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590550" y="1428750"/>
            <a:ext cx="3429000" cy="876300"/>
          </a:xfrm>
          <a:prstGeom prst="roundRect">
            <a:avLst>
              <a:gd fmla="val 8696" name="adj"/>
            </a:avLst>
          </a:prstGeom>
          <a:solidFill>
            <a:srgbClr val="377B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781050" y="1581150"/>
            <a:ext cx="3048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現在できる</a:t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781050" y="1933575"/>
            <a:ext cx="3048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現行システム</a:t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857250" y="2676525"/>
            <a:ext cx="76200" cy="400050"/>
          </a:xfrm>
          <a:prstGeom prst="roundRect">
            <a:avLst>
              <a:gd fmla="val 50000" name="adj"/>
            </a:avLst>
          </a:prstGeom>
          <a:solidFill>
            <a:srgbClr val="377B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1085850" y="2628900"/>
            <a:ext cx="26479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JWW・JWC・DXFの仕分け</a:t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857250" y="3400425"/>
            <a:ext cx="76200" cy="400050"/>
          </a:xfrm>
          <a:prstGeom prst="roundRect">
            <a:avLst>
              <a:gd fmla="val 50000" name="adj"/>
            </a:avLst>
          </a:prstGeom>
          <a:solidFill>
            <a:srgbClr val="377B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1085850" y="3352800"/>
            <a:ext cx="26479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62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室の床・天井面積と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62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巾木周長</a:t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857250" y="4124325"/>
            <a:ext cx="76200" cy="400050"/>
          </a:xfrm>
          <a:prstGeom prst="roundRect">
            <a:avLst>
              <a:gd fmla="val 50000" name="adj"/>
            </a:avLst>
          </a:prstGeom>
          <a:solidFill>
            <a:srgbClr val="377B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1085850" y="4076700"/>
            <a:ext cx="26479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62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ブロック化された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62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建具の集計</a:t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857250" y="4848225"/>
            <a:ext cx="76200" cy="400050"/>
          </a:xfrm>
          <a:prstGeom prst="roundRect">
            <a:avLst>
              <a:gd fmla="val 50000" name="adj"/>
            </a:avLst>
          </a:prstGeom>
          <a:solidFill>
            <a:srgbClr val="377B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1085850" y="4800600"/>
            <a:ext cx="26479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単価照合、見積、独立検算</a:t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4381500" y="1428750"/>
            <a:ext cx="3429000" cy="436245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9525">
            <a:solidFill>
              <a:srgbClr val="C9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4381500" y="1428750"/>
            <a:ext cx="3429000" cy="876300"/>
          </a:xfrm>
          <a:prstGeom prst="roundRect">
            <a:avLst>
              <a:gd fmla="val 8696" name="adj"/>
            </a:avLst>
          </a:prstGeom>
          <a:solidFill>
            <a:srgbClr val="1F8A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4572000" y="1581150"/>
            <a:ext cx="3048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情報があればできる</a:t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4572000" y="1933575"/>
            <a:ext cx="3048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研修で御社向けに設定</a:t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4648200" y="2676525"/>
            <a:ext cx="76200" cy="400050"/>
          </a:xfrm>
          <a:prstGeom prst="roundRect">
            <a:avLst>
              <a:gd fmla="val 50000" name="adj"/>
            </a:avLst>
          </a:prstGeom>
          <a:solidFill>
            <a:srgbClr val="1F8A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4876800" y="2628900"/>
            <a:ext cx="26479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御社専用の単価マスタ</a:t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4648200" y="3400425"/>
            <a:ext cx="76200" cy="400050"/>
          </a:xfrm>
          <a:prstGeom prst="roundRect">
            <a:avLst>
              <a:gd fmla="val 50000" name="adj"/>
            </a:avLst>
          </a:prstGeom>
          <a:solidFill>
            <a:srgbClr val="1F8A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4876800" y="3352800"/>
            <a:ext cx="26479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設計事務所別のレイヤ対応</a:t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4648200" y="4124325"/>
            <a:ext cx="76200" cy="400050"/>
          </a:xfrm>
          <a:prstGeom prst="roundRect">
            <a:avLst>
              <a:gd fmla="val 50000" name="adj"/>
            </a:avLst>
          </a:prstGeom>
          <a:solidFill>
            <a:srgbClr val="1F8A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4876800" y="4076700"/>
            <a:ext cx="26479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62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開口控除や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62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除外範囲のルール</a:t>
            </a:r>
            <a:endParaRPr/>
          </a:p>
        </p:txBody>
      </p:sp>
      <p:sp>
        <p:nvSpPr>
          <p:cNvPr id="135" name="Google Shape;135;p7"/>
          <p:cNvSpPr/>
          <p:nvPr/>
        </p:nvSpPr>
        <p:spPr>
          <a:xfrm>
            <a:off x="4648200" y="4848225"/>
            <a:ext cx="76200" cy="400050"/>
          </a:xfrm>
          <a:prstGeom prst="roundRect">
            <a:avLst>
              <a:gd fmla="val 50000" name="adj"/>
            </a:avLst>
          </a:prstGeom>
          <a:solidFill>
            <a:srgbClr val="1F8A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"/>
          <p:cNvSpPr/>
          <p:nvPr/>
        </p:nvSpPr>
        <p:spPr>
          <a:xfrm>
            <a:off x="4876800" y="4800600"/>
            <a:ext cx="26479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人が確定した数量の見積化</a:t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8172450" y="1428750"/>
            <a:ext cx="3429000" cy="4362450"/>
          </a:xfrm>
          <a:prstGeom prst="roundRect">
            <a:avLst>
              <a:gd fmla="val 2222" name="adj"/>
            </a:avLst>
          </a:prstGeom>
          <a:solidFill>
            <a:srgbClr val="FFFFFF"/>
          </a:solidFill>
          <a:ln cap="flat" cmpd="sng" w="9525">
            <a:solidFill>
              <a:srgbClr val="C9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"/>
          <p:cNvSpPr/>
          <p:nvPr/>
        </p:nvSpPr>
        <p:spPr>
          <a:xfrm>
            <a:off x="8172450" y="1428750"/>
            <a:ext cx="3429000" cy="876300"/>
          </a:xfrm>
          <a:prstGeom prst="roundRect">
            <a:avLst>
              <a:gd fmla="val 8696" name="adj"/>
            </a:avLst>
          </a:prstGeom>
          <a:solidFill>
            <a:srgbClr val="D96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8362950" y="1581150"/>
            <a:ext cx="3048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5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今後の実装候補</a:t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8362950" y="1933575"/>
            <a:ext cx="3048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125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研修結果から優先順位を決定</a:t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8439150" y="2676525"/>
            <a:ext cx="76200" cy="400050"/>
          </a:xfrm>
          <a:prstGeom prst="roundRect">
            <a:avLst>
              <a:gd fmla="val 50000" name="adj"/>
            </a:avLst>
          </a:prstGeom>
          <a:solidFill>
            <a:srgbClr val="D96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8667750" y="2628900"/>
            <a:ext cx="26479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仕上表・建具表の読込み</a:t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8439150" y="3400425"/>
            <a:ext cx="76200" cy="400050"/>
          </a:xfrm>
          <a:prstGeom prst="roundRect">
            <a:avLst>
              <a:gd fmla="val 50000" name="adj"/>
            </a:avLst>
          </a:prstGeom>
          <a:solidFill>
            <a:srgbClr val="D96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8667750" y="3352800"/>
            <a:ext cx="26479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壁仕上面積と図面改訂差分</a:t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8439150" y="4124325"/>
            <a:ext cx="76200" cy="400050"/>
          </a:xfrm>
          <a:prstGeom prst="roundRect">
            <a:avLst>
              <a:gd fmla="val 50000" name="adj"/>
            </a:avLst>
          </a:prstGeom>
          <a:solidFill>
            <a:srgbClr val="D96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8667750" y="4076700"/>
            <a:ext cx="26479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会社様式の見積書出力</a:t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8439150" y="4848225"/>
            <a:ext cx="76200" cy="400050"/>
          </a:xfrm>
          <a:prstGeom prst="roundRect">
            <a:avLst>
              <a:gd fmla="val 50000" name="adj"/>
            </a:avLst>
          </a:prstGeom>
          <a:solidFill>
            <a:srgbClr val="D96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8667750" y="4800600"/>
            <a:ext cx="26479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62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意匠・構造・設備の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62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整合支援</a:t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1352550" y="5981700"/>
            <a:ext cx="94869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02A43"/>
                </a:solidFill>
                <a:latin typeface="Noto Sans JP"/>
                <a:ea typeface="Noto Sans JP"/>
                <a:cs typeface="Noto Sans JP"/>
                <a:sym typeface="Noto Sans JP"/>
              </a:rPr>
              <a:t>今後の機能は約束ではなく、実案件で効果を測ってから投資判断します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C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F8A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609600" y="400050"/>
            <a:ext cx="10572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02A43"/>
                </a:solidFill>
                <a:latin typeface="Noto Sans JP"/>
                <a:ea typeface="Noto Sans JP"/>
                <a:cs typeface="Noto Sans JP"/>
                <a:sym typeface="Noto Sans JP"/>
              </a:rPr>
              <a:t>自動化する範囲と、人に残す判断</a:t>
            </a:r>
            <a:endParaRPr/>
          </a:p>
        </p:txBody>
      </p:sp>
      <p:cxnSp>
        <p:nvCxnSpPr>
          <p:cNvPr id="157" name="Google Shape;157;p8"/>
          <p:cNvCxnSpPr/>
          <p:nvPr/>
        </p:nvCxnSpPr>
        <p:spPr>
          <a:xfrm>
            <a:off x="609600" y="1066800"/>
            <a:ext cx="10858500" cy="0"/>
          </a:xfrm>
          <a:prstGeom prst="straightConnector1">
            <a:avLst/>
          </a:prstGeom>
          <a:noFill/>
          <a:ln cap="flat" cmpd="sng" w="9525">
            <a:solidFill>
              <a:srgbClr val="C9D2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8"/>
          <p:cNvSpPr/>
          <p:nvPr/>
        </p:nvSpPr>
        <p:spPr>
          <a:xfrm>
            <a:off x="11239500" y="6343650"/>
            <a:ext cx="457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0717E"/>
                </a:solidFill>
                <a:latin typeface="Noto Sans JP"/>
                <a:ea typeface="Noto Sans JP"/>
                <a:cs typeface="Noto Sans JP"/>
                <a:sym typeface="Noto Sans JP"/>
              </a:rPr>
              <a:t>06</a:t>
            </a:r>
            <a:endParaRPr/>
          </a:p>
        </p:txBody>
      </p:sp>
      <p:graphicFrame>
        <p:nvGraphicFramePr>
          <p:cNvPr id="159" name="Google Shape;159;p8"/>
          <p:cNvGraphicFramePr/>
          <p:nvPr/>
        </p:nvGraphicFramePr>
        <p:xfrm>
          <a:off x="762000" y="1562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{0709A6FC-12A7-416E-90A0-6B173EBC8397}</a:tableStyleId>
              </a:tblPr>
              <a:tblGrid>
                <a:gridCol w="2095500"/>
                <a:gridCol w="4000500"/>
                <a:gridCol w="4572000"/>
              </a:tblGrid>
              <a:tr h="7277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75"/>
                        <a:buFont typeface="Noto Sans JP"/>
                        <a:buNone/>
                      </a:pPr>
                      <a:r>
                        <a:rPr b="1" lang="en-US" sz="1575" u="none" cap="none" strike="noStrike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業務</a:t>
                      </a:r>
                      <a:endParaRPr/>
                    </a:p>
                  </a:txBody>
                  <a:tcPr marT="57150" marB="57150" marR="76200" marL="7620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75"/>
                        <a:buFont typeface="Noto Sans JP"/>
                        <a:buNone/>
                      </a:pPr>
                      <a:r>
                        <a:rPr b="1" lang="en-US" sz="1575" u="none" cap="none" strike="noStrike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システムが担当</a:t>
                      </a:r>
                      <a:endParaRPr/>
                    </a:p>
                  </a:txBody>
                  <a:tcPr marT="57150" marB="57150" marR="76200" marL="7620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575"/>
                        <a:buFont typeface="Noto Sans JP"/>
                        <a:buNone/>
                      </a:pPr>
                      <a:r>
                        <a:rPr b="1" lang="en-US" sz="1575" u="none" cap="none" strike="noStrike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人が担当</a:t>
                      </a:r>
                      <a:endParaRPr/>
                    </a:p>
                  </a:txBody>
                  <a:tcPr marT="57150" marB="57150" marR="76200" marL="76200">
                    <a:solidFill>
                      <a:srgbClr val="102A43"/>
                    </a:solidFill>
                  </a:tcPr>
                </a:tc>
              </a:tr>
              <a:tr h="72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A43"/>
                        </a:buClr>
                        <a:buSzPts val="1500"/>
                        <a:buFont typeface="Noto Sans JP"/>
                        <a:buNone/>
                      </a:pPr>
                      <a:r>
                        <a:rPr b="1" lang="en-US" sz="1500" u="none" cap="none" strike="noStrike">
                          <a:solidFill>
                            <a:srgbClr val="102A4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図面の読取り</a:t>
                      </a:r>
                      <a:endParaRPr/>
                    </a:p>
                  </a:txBody>
                  <a:tcPr marT="76200" marB="76200" marR="95250" marL="95250" anchor="ctr"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6"/>
                        </a:buClr>
                        <a:buSzPts val="1425"/>
                        <a:buFont typeface="Noto Sans JP"/>
                        <a:buNone/>
                      </a:pPr>
                      <a:r>
                        <a:rPr lang="en-US" sz="1425">
                          <a:solidFill>
                            <a:srgbClr val="1F2D36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対象レイヤと閉じた形状の集計</a:t>
                      </a:r>
                      <a:endParaRPr/>
                    </a:p>
                  </a:txBody>
                  <a:tcPr marT="76200" marB="76200" marR="95250" marL="95250">
                    <a:solidFill>
                      <a:srgbClr val="E4F0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6"/>
                        </a:buClr>
                        <a:buSzPts val="1425"/>
                        <a:buFont typeface="Noto Sans JP"/>
                        <a:buNone/>
                      </a:pPr>
                      <a:r>
                        <a:rPr lang="en-US" sz="1425">
                          <a:solidFill>
                            <a:srgbClr val="1F2D36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図面不足、曖昧な描き方の判断</a:t>
                      </a:r>
                      <a:endParaRPr/>
                    </a:p>
                  </a:txBody>
                  <a:tcPr marT="76200" marB="76200" marR="95250" marL="95250">
                    <a:solidFill>
                      <a:srgbClr val="F8E5DA"/>
                    </a:solidFill>
                  </a:tcPr>
                </a:tc>
              </a:tr>
              <a:tr h="72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A43"/>
                        </a:buClr>
                        <a:buSzPts val="1500"/>
                        <a:buFont typeface="Noto Sans JP"/>
                        <a:buNone/>
                      </a:pPr>
                      <a:r>
                        <a:rPr b="1" lang="en-US" sz="1500">
                          <a:solidFill>
                            <a:srgbClr val="102A4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数量</a:t>
                      </a:r>
                      <a:endParaRPr/>
                    </a:p>
                  </a:txBody>
                  <a:tcPr marT="76200" marB="76200" marR="95250" marL="95250" anchor="ctr"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6"/>
                        </a:buClr>
                        <a:buSzPts val="1425"/>
                        <a:buFont typeface="Noto Sans JP"/>
                        <a:buNone/>
                      </a:pPr>
                      <a:r>
                        <a:rPr lang="en-US" sz="1425">
                          <a:solidFill>
                            <a:srgbClr val="1F2D36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対象範囲の面積・周長・個数</a:t>
                      </a:r>
                      <a:endParaRPr/>
                    </a:p>
                  </a:txBody>
                  <a:tcPr marT="76200" marB="76200" marR="95250" marL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6"/>
                        </a:buClr>
                        <a:buSzPts val="1425"/>
                        <a:buFont typeface="Noto Sans JP"/>
                        <a:buNone/>
                      </a:pPr>
                      <a:r>
                        <a:rPr lang="en-US" sz="1425">
                          <a:solidFill>
                            <a:srgbClr val="1F2D36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工事範囲、別途工事、施工条件</a:t>
                      </a:r>
                      <a:endParaRPr/>
                    </a:p>
                  </a:txBody>
                  <a:tcPr marT="76200" marB="76200" marR="95250" marL="95250">
                    <a:solidFill>
                      <a:srgbClr val="FFFFFF"/>
                    </a:solidFill>
                  </a:tcPr>
                </a:tc>
              </a:tr>
              <a:tr h="72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A43"/>
                        </a:buClr>
                        <a:buSzPts val="1500"/>
                        <a:buFont typeface="Noto Sans JP"/>
                        <a:buNone/>
                      </a:pPr>
                      <a:r>
                        <a:rPr b="1" lang="en-US" sz="1500">
                          <a:solidFill>
                            <a:srgbClr val="102A4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単価・見積</a:t>
                      </a:r>
                      <a:endParaRPr/>
                    </a:p>
                  </a:txBody>
                  <a:tcPr marT="76200" marB="76200" marR="95250" marL="95250" anchor="ctr"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6"/>
                        </a:buClr>
                        <a:buSzPts val="1425"/>
                        <a:buFont typeface="Noto Sans JP"/>
                        <a:buNone/>
                      </a:pPr>
                      <a:r>
                        <a:rPr lang="en-US" sz="1425">
                          <a:solidFill>
                            <a:srgbClr val="1F2D36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登録済み単価の照合と計算</a:t>
                      </a:r>
                      <a:endParaRPr/>
                    </a:p>
                  </a:txBody>
                  <a:tcPr marT="76200" marB="76200" marR="95250" marL="95250">
                    <a:solidFill>
                      <a:srgbClr val="E4F0E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6"/>
                        </a:buClr>
                        <a:buSzPts val="1425"/>
                        <a:buFont typeface="Noto Sans JP"/>
                        <a:buNone/>
                      </a:pPr>
                      <a:r>
                        <a:rPr lang="en-US" sz="1425">
                          <a:solidFill>
                            <a:srgbClr val="1F2D36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採用単価、見積条件、顧客への提示</a:t>
                      </a:r>
                      <a:endParaRPr/>
                    </a:p>
                  </a:txBody>
                  <a:tcPr marT="76200" marB="76200" marR="95250" marL="95250">
                    <a:solidFill>
                      <a:srgbClr val="F8E5DA"/>
                    </a:solidFill>
                  </a:tcPr>
                </a:tc>
              </a:tr>
              <a:tr h="727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02A43"/>
                        </a:buClr>
                        <a:buSzPts val="1500"/>
                        <a:buFont typeface="Noto Sans JP"/>
                        <a:buNone/>
                      </a:pPr>
                      <a:r>
                        <a:rPr b="1" lang="en-US" sz="1500">
                          <a:solidFill>
                            <a:srgbClr val="102A43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設計・法規</a:t>
                      </a:r>
                      <a:endParaRPr/>
                    </a:p>
                  </a:txBody>
                  <a:tcPr marT="76200" marB="76200" marR="95250" marL="95250" anchor="ctr"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6"/>
                        </a:buClr>
                        <a:buSzPts val="1425"/>
                        <a:buFont typeface="Noto Sans JP"/>
                        <a:buNone/>
                      </a:pPr>
                      <a:r>
                        <a:rPr lang="en-US" sz="1425">
                          <a:solidFill>
                            <a:srgbClr val="1F2D36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将来はチェック表の下書きを支援</a:t>
                      </a:r>
                      <a:endParaRPr/>
                    </a:p>
                  </a:txBody>
                  <a:tcPr marT="76200" marB="76200" marR="95250" marL="952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6"/>
                        </a:buClr>
                        <a:buSzPts val="1425"/>
                        <a:buFont typeface="Noto Sans JP"/>
                        <a:buNone/>
                      </a:pPr>
                      <a:r>
                        <a:rPr lang="en-US" sz="1425">
                          <a:solidFill>
                            <a:srgbClr val="1F2D36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法適合、構造安全、記名、申請</a:t>
                      </a:r>
                      <a:endParaRPr/>
                    </a:p>
                  </a:txBody>
                  <a:tcPr marT="76200" marB="76200" marR="95250" marL="952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0" name="Google Shape;160;p8"/>
          <p:cNvSpPr/>
          <p:nvPr/>
        </p:nvSpPr>
        <p:spPr>
          <a:xfrm>
            <a:off x="1314450" y="5562600"/>
            <a:ext cx="9563100" cy="590550"/>
          </a:xfrm>
          <a:prstGeom prst="roundRect">
            <a:avLst>
              <a:gd fmla="val 12903" name="adj"/>
            </a:avLst>
          </a:prstGeom>
          <a:solidFill>
            <a:srgbClr val="F8E5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1524000" y="5667375"/>
            <a:ext cx="9144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A64B3C"/>
                </a:solidFill>
                <a:latin typeface="Noto Sans JP"/>
                <a:ea typeface="Noto Sans JP"/>
                <a:cs typeface="Noto Sans JP"/>
                <a:sym typeface="Noto Sans JP"/>
              </a:rPr>
              <a:t>専門判断をAIに置き換えず、確認に必要な材料をそろえる仕組みです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2A43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"/>
          <p:cNvSpPr/>
          <p:nvPr/>
        </p:nvSpPr>
        <p:spPr>
          <a:xfrm>
            <a:off x="609600" y="400050"/>
            <a:ext cx="10572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安心して使うための4つの安全装置</a:t>
            </a:r>
            <a:endParaRPr/>
          </a:p>
        </p:txBody>
      </p:sp>
      <p:cxnSp>
        <p:nvCxnSpPr>
          <p:cNvPr id="168" name="Google Shape;168;p9"/>
          <p:cNvCxnSpPr/>
          <p:nvPr/>
        </p:nvCxnSpPr>
        <p:spPr>
          <a:xfrm>
            <a:off x="609600" y="1066800"/>
            <a:ext cx="10858500" cy="0"/>
          </a:xfrm>
          <a:prstGeom prst="straightConnector1">
            <a:avLst/>
          </a:prstGeom>
          <a:noFill/>
          <a:ln cap="flat" cmpd="sng" w="9525">
            <a:solidFill>
              <a:srgbClr val="54708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9"/>
          <p:cNvSpPr/>
          <p:nvPr/>
        </p:nvSpPr>
        <p:spPr>
          <a:xfrm>
            <a:off x="11239500" y="6343650"/>
            <a:ext cx="457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7BAC8"/>
                </a:solidFill>
                <a:latin typeface="Noto Sans JP"/>
                <a:ea typeface="Noto Sans JP"/>
                <a:cs typeface="Noto Sans JP"/>
                <a:sym typeface="Noto Sans JP"/>
              </a:rPr>
              <a:t>07</a:t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819150" y="1466850"/>
            <a:ext cx="5715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96C32"/>
                </a:solidFill>
                <a:latin typeface="Noto Sans JP"/>
                <a:ea typeface="Noto Sans JP"/>
                <a:cs typeface="Noto Sans JP"/>
                <a:sym typeface="Noto Sans JP"/>
              </a:rPr>
              <a:t>01</a:t>
            </a:r>
            <a:endParaRPr/>
          </a:p>
        </p:txBody>
      </p:sp>
      <p:sp>
        <p:nvSpPr>
          <p:cNvPr id="171" name="Google Shape;171;p9"/>
          <p:cNvSpPr/>
          <p:nvPr/>
        </p:nvSpPr>
        <p:spPr>
          <a:xfrm>
            <a:off x="1524000" y="1428750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原本と単価マスタを守る</a:t>
            </a:r>
            <a:endParaRPr/>
          </a:p>
        </p:txBody>
      </p:sp>
      <p:sp>
        <p:nvSpPr>
          <p:cNvPr id="172" name="Google Shape;172;p9"/>
          <p:cNvSpPr/>
          <p:nvPr/>
        </p:nvSpPr>
        <p:spPr>
          <a:xfrm>
            <a:off x="5219700" y="1428750"/>
            <a:ext cx="59626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D7E3EA"/>
                </a:solidFill>
                <a:latin typeface="Noto Sans JP"/>
                <a:ea typeface="Noto Sans JP"/>
                <a:cs typeface="Noto Sans JP"/>
                <a:sym typeface="Noto Sans JP"/>
              </a:rPr>
              <a:t>受領図面は読取り専用。単価は候補を作り、人が承認してから登録します。</a:t>
            </a:r>
            <a:endParaRPr/>
          </a:p>
        </p:txBody>
      </p:sp>
      <p:cxnSp>
        <p:nvCxnSpPr>
          <p:cNvPr id="173" name="Google Shape;173;p9"/>
          <p:cNvCxnSpPr/>
          <p:nvPr/>
        </p:nvCxnSpPr>
        <p:spPr>
          <a:xfrm>
            <a:off x="781050" y="2247900"/>
            <a:ext cx="10420350" cy="0"/>
          </a:xfrm>
          <a:prstGeom prst="straightConnector1">
            <a:avLst/>
          </a:prstGeom>
          <a:noFill/>
          <a:ln cap="flat" cmpd="sng" w="9525">
            <a:solidFill>
              <a:srgbClr val="34536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4" name="Google Shape;174;p9"/>
          <p:cNvSpPr/>
          <p:nvPr/>
        </p:nvSpPr>
        <p:spPr>
          <a:xfrm>
            <a:off x="819150" y="2590800"/>
            <a:ext cx="5715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96C32"/>
                </a:solidFill>
                <a:latin typeface="Noto Sans JP"/>
                <a:ea typeface="Noto Sans JP"/>
                <a:cs typeface="Noto Sans JP"/>
                <a:sym typeface="Noto Sans JP"/>
              </a:rPr>
              <a:t>02</a:t>
            </a:r>
            <a:endParaRPr/>
          </a:p>
        </p:txBody>
      </p:sp>
      <p:sp>
        <p:nvSpPr>
          <p:cNvPr id="175" name="Google Shape;175;p9"/>
          <p:cNvSpPr/>
          <p:nvPr/>
        </p:nvSpPr>
        <p:spPr>
          <a:xfrm>
            <a:off x="1524000" y="2552700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分からない数量を埋めない</a:t>
            </a:r>
            <a:endParaRPr/>
          </a:p>
        </p:txBody>
      </p:sp>
      <p:sp>
        <p:nvSpPr>
          <p:cNvPr id="176" name="Google Shape;176;p9"/>
          <p:cNvSpPr/>
          <p:nvPr/>
        </p:nvSpPr>
        <p:spPr>
          <a:xfrm>
            <a:off x="5219700" y="2552700"/>
            <a:ext cx="59626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D7E3EA"/>
                </a:solidFill>
                <a:latin typeface="Noto Sans JP"/>
                <a:ea typeface="Noto Sans JP"/>
                <a:cs typeface="Noto Sans JP"/>
                <a:sym typeface="Noto Sans JP"/>
              </a:rPr>
              <a:t>推測せず空欄と要確認で残し、回答が得られるまで先へ進めません。</a:t>
            </a:r>
            <a:endParaRPr/>
          </a:p>
        </p:txBody>
      </p:sp>
      <p:cxnSp>
        <p:nvCxnSpPr>
          <p:cNvPr id="177" name="Google Shape;177;p9"/>
          <p:cNvCxnSpPr/>
          <p:nvPr/>
        </p:nvCxnSpPr>
        <p:spPr>
          <a:xfrm>
            <a:off x="781050" y="3371850"/>
            <a:ext cx="10420350" cy="0"/>
          </a:xfrm>
          <a:prstGeom prst="straightConnector1">
            <a:avLst/>
          </a:prstGeom>
          <a:noFill/>
          <a:ln cap="flat" cmpd="sng" w="9525">
            <a:solidFill>
              <a:srgbClr val="34536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" name="Google Shape;178;p9"/>
          <p:cNvSpPr/>
          <p:nvPr/>
        </p:nvSpPr>
        <p:spPr>
          <a:xfrm>
            <a:off x="819150" y="3714750"/>
            <a:ext cx="5715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96C32"/>
                </a:solidFill>
                <a:latin typeface="Noto Sans JP"/>
                <a:ea typeface="Noto Sans JP"/>
                <a:cs typeface="Noto Sans JP"/>
                <a:sym typeface="Noto Sans JP"/>
              </a:rPr>
              <a:t>03</a:t>
            </a:r>
            <a:endParaRPr/>
          </a:p>
        </p:txBody>
      </p:sp>
      <p:sp>
        <p:nvSpPr>
          <p:cNvPr id="179" name="Google Shape;179;p9"/>
          <p:cNvSpPr/>
          <p:nvPr/>
        </p:nvSpPr>
        <p:spPr>
          <a:xfrm>
            <a:off x="1524000" y="3676650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作成と検算を分ける</a:t>
            </a:r>
            <a:endParaRPr/>
          </a:p>
        </p:txBody>
      </p:sp>
      <p:sp>
        <p:nvSpPr>
          <p:cNvPr id="180" name="Google Shape;180;p9"/>
          <p:cNvSpPr/>
          <p:nvPr/>
        </p:nvSpPr>
        <p:spPr>
          <a:xfrm>
            <a:off x="5219700" y="3676650"/>
            <a:ext cx="59626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D7E3EA"/>
                </a:solidFill>
                <a:latin typeface="Noto Sans JP"/>
                <a:ea typeface="Noto Sans JP"/>
                <a:cs typeface="Noto Sans JP"/>
                <a:sym typeface="Noto Sans JP"/>
              </a:rPr>
              <a:t>同じ担当の自己確認だけにせず、別の計算経路で数量と金額を確認します。</a:t>
            </a:r>
            <a:endParaRPr/>
          </a:p>
        </p:txBody>
      </p:sp>
      <p:cxnSp>
        <p:nvCxnSpPr>
          <p:cNvPr id="181" name="Google Shape;181;p9"/>
          <p:cNvCxnSpPr/>
          <p:nvPr/>
        </p:nvCxnSpPr>
        <p:spPr>
          <a:xfrm>
            <a:off x="781050" y="4495800"/>
            <a:ext cx="10420350" cy="0"/>
          </a:xfrm>
          <a:prstGeom prst="straightConnector1">
            <a:avLst/>
          </a:prstGeom>
          <a:noFill/>
          <a:ln cap="flat" cmpd="sng" w="9525">
            <a:solidFill>
              <a:srgbClr val="34536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2" name="Google Shape;182;p9"/>
          <p:cNvSpPr/>
          <p:nvPr/>
        </p:nvSpPr>
        <p:spPr>
          <a:xfrm>
            <a:off x="819150" y="4838700"/>
            <a:ext cx="5715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96C32"/>
                </a:solidFill>
                <a:latin typeface="Noto Sans JP"/>
                <a:ea typeface="Noto Sans JP"/>
                <a:cs typeface="Noto Sans JP"/>
                <a:sym typeface="Noto Sans JP"/>
              </a:rPr>
              <a:t>04</a:t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1524000" y="4800600"/>
            <a:ext cx="342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承認した版だけを確定する</a:t>
            </a:r>
            <a:endParaRPr/>
          </a:p>
        </p:txBody>
      </p:sp>
      <p:sp>
        <p:nvSpPr>
          <p:cNvPr id="184" name="Google Shape;184;p9"/>
          <p:cNvSpPr/>
          <p:nvPr/>
        </p:nvSpPr>
        <p:spPr>
          <a:xfrm>
            <a:off x="5219700" y="4800600"/>
            <a:ext cx="59626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D7E3EA"/>
                </a:solidFill>
                <a:latin typeface="Noto Sans JP"/>
                <a:ea typeface="Noto Sans JP"/>
                <a:cs typeface="Noto Sans JP"/>
                <a:sym typeface="Noto Sans JP"/>
              </a:rPr>
              <a:t>ファイルの内容を記録し、最新の検算と人の承認がそろった版だけを確定します。</a:t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1333500" y="5953125"/>
            <a:ext cx="9525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8DD5CE"/>
                </a:solidFill>
                <a:latin typeface="Noto Sans JP"/>
                <a:ea typeface="Noto Sans JP"/>
                <a:cs typeface="Noto Sans JP"/>
                <a:sym typeface="Noto Sans JP"/>
              </a:rPr>
              <a:t>AIの自己申告ではなく、計算結果と記録で確かめる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C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F8A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"/>
          <p:cNvSpPr/>
          <p:nvPr/>
        </p:nvSpPr>
        <p:spPr>
          <a:xfrm>
            <a:off x="609600" y="400050"/>
            <a:ext cx="10572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02A43"/>
                </a:solidFill>
                <a:latin typeface="Noto Sans JP"/>
                <a:ea typeface="Noto Sans JP"/>
                <a:cs typeface="Noto Sans JP"/>
                <a:sym typeface="Noto Sans JP"/>
              </a:rPr>
              <a:t>全6回の実践プログラム案</a:t>
            </a:r>
            <a:endParaRPr/>
          </a:p>
        </p:txBody>
      </p:sp>
      <p:cxnSp>
        <p:nvCxnSpPr>
          <p:cNvPr id="193" name="Google Shape;193;p10"/>
          <p:cNvCxnSpPr/>
          <p:nvPr/>
        </p:nvCxnSpPr>
        <p:spPr>
          <a:xfrm>
            <a:off x="609600" y="1066800"/>
            <a:ext cx="10858500" cy="0"/>
          </a:xfrm>
          <a:prstGeom prst="straightConnector1">
            <a:avLst/>
          </a:prstGeom>
          <a:noFill/>
          <a:ln cap="flat" cmpd="sng" w="9525">
            <a:solidFill>
              <a:srgbClr val="C9D2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4" name="Google Shape;194;p10"/>
          <p:cNvSpPr/>
          <p:nvPr/>
        </p:nvSpPr>
        <p:spPr>
          <a:xfrm>
            <a:off x="11239500" y="6343650"/>
            <a:ext cx="457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0717E"/>
                </a:solidFill>
                <a:latin typeface="Noto Sans JP"/>
                <a:ea typeface="Noto Sans JP"/>
                <a:cs typeface="Noto Sans JP"/>
                <a:sym typeface="Noto Sans JP"/>
              </a:rPr>
              <a:t>08</a:t>
            </a:r>
            <a:endParaRPr/>
          </a:p>
        </p:txBody>
      </p:sp>
      <p:cxnSp>
        <p:nvCxnSpPr>
          <p:cNvPr id="195" name="Google Shape;195;p10"/>
          <p:cNvCxnSpPr/>
          <p:nvPr/>
        </p:nvCxnSpPr>
        <p:spPr>
          <a:xfrm>
            <a:off x="1104900" y="2571750"/>
            <a:ext cx="9963150" cy="0"/>
          </a:xfrm>
          <a:prstGeom prst="straightConnector1">
            <a:avLst/>
          </a:prstGeom>
          <a:noFill/>
          <a:ln cap="flat" cmpd="sng" w="47625">
            <a:solidFill>
              <a:srgbClr val="C9D2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" name="Google Shape;196;p10"/>
          <p:cNvSpPr/>
          <p:nvPr/>
        </p:nvSpPr>
        <p:spPr>
          <a:xfrm>
            <a:off x="1181100" y="2181225"/>
            <a:ext cx="742950" cy="742950"/>
          </a:xfrm>
          <a:prstGeom prst="ellipse">
            <a:avLst/>
          </a:prstGeom>
          <a:solidFill>
            <a:srgbClr val="1F8A89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1181100" y="2266950"/>
            <a:ext cx="7429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1</a:t>
            </a:r>
            <a:endParaRPr/>
          </a:p>
        </p:txBody>
      </p:sp>
      <p:sp>
        <p:nvSpPr>
          <p:cNvPr id="198" name="Google Shape;198;p10"/>
          <p:cNvSpPr/>
          <p:nvPr/>
        </p:nvSpPr>
        <p:spPr>
          <a:xfrm>
            <a:off x="800100" y="3219450"/>
            <a:ext cx="15049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02A43"/>
                </a:solidFill>
                <a:latin typeface="Noto Sans JP"/>
                <a:ea typeface="Noto Sans JP"/>
                <a:cs typeface="Noto Sans JP"/>
                <a:sym typeface="Noto Sans JP"/>
              </a:rPr>
              <a:t>現状整理</a:t>
            </a:r>
            <a:endParaRPr/>
          </a:p>
        </p:txBody>
      </p:sp>
      <p:sp>
        <p:nvSpPr>
          <p:cNvPr id="199" name="Google Shape;199;p10"/>
          <p:cNvSpPr/>
          <p:nvPr/>
        </p:nvSpPr>
        <p:spPr>
          <a:xfrm>
            <a:off x="685800" y="3771900"/>
            <a:ext cx="17335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業務フロー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効果測定基準</a:t>
            </a:r>
            <a:endParaRPr/>
          </a:p>
        </p:txBody>
      </p:sp>
      <p:sp>
        <p:nvSpPr>
          <p:cNvPr id="200" name="Google Shape;200;p10"/>
          <p:cNvSpPr/>
          <p:nvPr/>
        </p:nvSpPr>
        <p:spPr>
          <a:xfrm>
            <a:off x="3105150" y="2181225"/>
            <a:ext cx="742950" cy="742950"/>
          </a:xfrm>
          <a:prstGeom prst="ellipse">
            <a:avLst/>
          </a:prstGeom>
          <a:solidFill>
            <a:srgbClr val="1F8A89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3105150" y="2266950"/>
            <a:ext cx="7429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2</a:t>
            </a: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2724150" y="3219450"/>
            <a:ext cx="15049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02A43"/>
                </a:solidFill>
                <a:latin typeface="Noto Sans JP"/>
                <a:ea typeface="Noto Sans JP"/>
                <a:cs typeface="Noto Sans JP"/>
                <a:sym typeface="Noto Sans JP"/>
              </a:rPr>
              <a:t>単価整備</a:t>
            </a:r>
            <a:endParaRPr/>
          </a:p>
        </p:txBody>
      </p:sp>
      <p:sp>
        <p:nvSpPr>
          <p:cNvPr id="203" name="Google Shape;203;p10"/>
          <p:cNvSpPr/>
          <p:nvPr/>
        </p:nvSpPr>
        <p:spPr>
          <a:xfrm>
            <a:off x="2609850" y="3771900"/>
            <a:ext cx="17335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単価マスタ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名称読み替え</a:t>
            </a:r>
            <a:endParaRPr/>
          </a:p>
        </p:txBody>
      </p:sp>
      <p:sp>
        <p:nvSpPr>
          <p:cNvPr id="204" name="Google Shape;204;p10"/>
          <p:cNvSpPr/>
          <p:nvPr/>
        </p:nvSpPr>
        <p:spPr>
          <a:xfrm>
            <a:off x="5029200" y="2181225"/>
            <a:ext cx="742950" cy="742950"/>
          </a:xfrm>
          <a:prstGeom prst="ellipse">
            <a:avLst/>
          </a:prstGeom>
          <a:solidFill>
            <a:srgbClr val="1F8A89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5029200" y="2266950"/>
            <a:ext cx="7429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3</a:t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>
            <a:off x="4648200" y="3219450"/>
            <a:ext cx="15049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02A43"/>
                </a:solidFill>
                <a:latin typeface="Noto Sans JP"/>
                <a:ea typeface="Noto Sans JP"/>
                <a:cs typeface="Noto Sans JP"/>
                <a:sym typeface="Noto Sans JP"/>
              </a:rPr>
              <a:t>図面ルール</a:t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4533900" y="3771900"/>
            <a:ext cx="17335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レイヤ対応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室境界の確認</a:t>
            </a:r>
            <a:endParaRPr/>
          </a:p>
        </p:txBody>
      </p:sp>
      <p:sp>
        <p:nvSpPr>
          <p:cNvPr id="208" name="Google Shape;208;p10"/>
          <p:cNvSpPr/>
          <p:nvPr/>
        </p:nvSpPr>
        <p:spPr>
          <a:xfrm>
            <a:off x="6953250" y="2181225"/>
            <a:ext cx="742950" cy="742950"/>
          </a:xfrm>
          <a:prstGeom prst="ellipse">
            <a:avLst/>
          </a:prstGeom>
          <a:solidFill>
            <a:srgbClr val="1F8A89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/>
          <p:nvPr/>
        </p:nvSpPr>
        <p:spPr>
          <a:xfrm>
            <a:off x="6953250" y="2266950"/>
            <a:ext cx="7429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4</a:t>
            </a:r>
            <a:endParaRPr/>
          </a:p>
        </p:txBody>
      </p:sp>
      <p:sp>
        <p:nvSpPr>
          <p:cNvPr id="210" name="Google Shape;210;p10"/>
          <p:cNvSpPr/>
          <p:nvPr/>
        </p:nvSpPr>
        <p:spPr>
          <a:xfrm>
            <a:off x="6572250" y="3219450"/>
            <a:ext cx="15049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02A43"/>
                </a:solidFill>
                <a:latin typeface="Noto Sans JP"/>
                <a:ea typeface="Noto Sans JP"/>
                <a:cs typeface="Noto Sans JP"/>
                <a:sym typeface="Noto Sans JP"/>
              </a:rPr>
              <a:t>数量拾い</a:t>
            </a:r>
            <a:endParaRPr/>
          </a:p>
        </p:txBody>
      </p:sp>
      <p:sp>
        <p:nvSpPr>
          <p:cNvPr id="211" name="Google Shape;211;p10"/>
          <p:cNvSpPr/>
          <p:nvPr/>
        </p:nvSpPr>
        <p:spPr>
          <a:xfrm>
            <a:off x="6457950" y="3771900"/>
            <a:ext cx="17335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数量調書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拾い根拠図</a:t>
            </a:r>
            <a:endParaRPr/>
          </a:p>
        </p:txBody>
      </p:sp>
      <p:sp>
        <p:nvSpPr>
          <p:cNvPr id="212" name="Google Shape;212;p10"/>
          <p:cNvSpPr/>
          <p:nvPr/>
        </p:nvSpPr>
        <p:spPr>
          <a:xfrm>
            <a:off x="8877300" y="2181225"/>
            <a:ext cx="742950" cy="742950"/>
          </a:xfrm>
          <a:prstGeom prst="ellipse">
            <a:avLst/>
          </a:prstGeom>
          <a:solidFill>
            <a:srgbClr val="1F8A89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"/>
          <p:cNvSpPr/>
          <p:nvPr/>
        </p:nvSpPr>
        <p:spPr>
          <a:xfrm>
            <a:off x="8877300" y="2266950"/>
            <a:ext cx="7429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5</a:t>
            </a:r>
            <a:endParaRPr/>
          </a:p>
        </p:txBody>
      </p:sp>
      <p:sp>
        <p:nvSpPr>
          <p:cNvPr id="214" name="Google Shape;214;p10"/>
          <p:cNvSpPr/>
          <p:nvPr/>
        </p:nvSpPr>
        <p:spPr>
          <a:xfrm>
            <a:off x="8496300" y="3219450"/>
            <a:ext cx="15049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02A43"/>
                </a:solidFill>
                <a:latin typeface="Noto Sans JP"/>
                <a:ea typeface="Noto Sans JP"/>
                <a:cs typeface="Noto Sans JP"/>
                <a:sym typeface="Noto Sans JP"/>
              </a:rPr>
              <a:t>見積・検算</a:t>
            </a:r>
            <a:endParaRPr/>
          </a:p>
        </p:txBody>
      </p:sp>
      <p:sp>
        <p:nvSpPr>
          <p:cNvPr id="215" name="Google Shape;215;p10"/>
          <p:cNvSpPr/>
          <p:nvPr/>
        </p:nvSpPr>
        <p:spPr>
          <a:xfrm>
            <a:off x="8382000" y="3771900"/>
            <a:ext cx="17335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見積ドラフト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検算レポート</a:t>
            </a:r>
            <a:endParaRPr/>
          </a:p>
        </p:txBody>
      </p:sp>
      <p:sp>
        <p:nvSpPr>
          <p:cNvPr id="216" name="Google Shape;216;p10"/>
          <p:cNvSpPr/>
          <p:nvPr/>
        </p:nvSpPr>
        <p:spPr>
          <a:xfrm>
            <a:off x="10801350" y="2181225"/>
            <a:ext cx="742950" cy="742950"/>
          </a:xfrm>
          <a:prstGeom prst="ellipse">
            <a:avLst/>
          </a:prstGeom>
          <a:solidFill>
            <a:srgbClr val="D96C32"/>
          </a:solidFill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10"/>
          <p:cNvSpPr/>
          <p:nvPr/>
        </p:nvSpPr>
        <p:spPr>
          <a:xfrm>
            <a:off x="10801350" y="2266950"/>
            <a:ext cx="742950" cy="552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5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6</a:t>
            </a:r>
            <a:endParaRPr/>
          </a:p>
        </p:txBody>
      </p:sp>
      <p:sp>
        <p:nvSpPr>
          <p:cNvPr id="218" name="Google Shape;218;p10"/>
          <p:cNvSpPr/>
          <p:nvPr/>
        </p:nvSpPr>
        <p:spPr>
          <a:xfrm>
            <a:off x="10420350" y="3219450"/>
            <a:ext cx="15049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02A43"/>
                </a:solidFill>
                <a:latin typeface="Noto Sans JP"/>
                <a:ea typeface="Noto Sans JP"/>
                <a:cs typeface="Noto Sans JP"/>
                <a:sym typeface="Noto Sans JP"/>
              </a:rPr>
              <a:t>成果測定</a:t>
            </a:r>
            <a:endParaRPr/>
          </a:p>
        </p:txBody>
      </p:sp>
      <p:sp>
        <p:nvSpPr>
          <p:cNvPr id="219" name="Google Shape;219;p10"/>
          <p:cNvSpPr/>
          <p:nvPr/>
        </p:nvSpPr>
        <p:spPr>
          <a:xfrm>
            <a:off x="10306050" y="3771900"/>
            <a:ext cx="17335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従来比較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次期ロードマップ</a:t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1238250" y="5181600"/>
            <a:ext cx="9715500" cy="781050"/>
          </a:xfrm>
          <a:prstGeom prst="roundRect">
            <a:avLst>
              <a:gd fmla="val 9756" name="adj"/>
            </a:avLst>
          </a:prstGeom>
          <a:solidFill>
            <a:srgbClr val="FFFFFF"/>
          </a:solidFill>
          <a:ln cap="flat" cmpd="sng" w="9525">
            <a:solidFill>
              <a:srgbClr val="C9D2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0"/>
          <p:cNvSpPr/>
          <p:nvPr/>
        </p:nvSpPr>
        <p:spPr>
          <a:xfrm>
            <a:off x="1504950" y="5314950"/>
            <a:ext cx="91821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02A43"/>
                </a:solidFill>
                <a:latin typeface="Noto Sans JP"/>
                <a:ea typeface="Noto Sans JP"/>
                <a:cs typeface="Noto Sans JP"/>
                <a:sym typeface="Noto Sans JP"/>
              </a:rPr>
              <a:t>標準案：各120分（1人12時間）　参加者：建築士・積算担当・管理者・実務担当</a:t>
            </a:r>
            <a:endParaRPr/>
          </a:p>
        </p:txBody>
      </p:sp>
      <p:sp>
        <p:nvSpPr>
          <p:cNvPr id="222" name="Google Shape;222;p10"/>
          <p:cNvSpPr/>
          <p:nvPr/>
        </p:nvSpPr>
        <p:spPr>
          <a:xfrm>
            <a:off x="2000250" y="5715000"/>
            <a:ext cx="8191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377B61"/>
                </a:solidFill>
                <a:latin typeface="Noto Sans JP"/>
                <a:ea typeface="Noto Sans JP"/>
                <a:cs typeface="Noto Sans JP"/>
                <a:sym typeface="Noto Sans JP"/>
              </a:rPr>
              <a:t>毎回、翌日から使えるファイルとルールを持ち帰ります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C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F8A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"/>
          <p:cNvSpPr/>
          <p:nvPr/>
        </p:nvSpPr>
        <p:spPr>
          <a:xfrm>
            <a:off x="609600" y="400050"/>
            <a:ext cx="10572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02A43"/>
                </a:solidFill>
                <a:latin typeface="Noto Sans JP"/>
                <a:ea typeface="Noto Sans JP"/>
                <a:cs typeface="Noto Sans JP"/>
                <a:sym typeface="Noto Sans JP"/>
              </a:rPr>
              <a:t>研修に必要な情報と、返却する成果物</a:t>
            </a:r>
            <a:endParaRPr/>
          </a:p>
        </p:txBody>
      </p:sp>
      <p:cxnSp>
        <p:nvCxnSpPr>
          <p:cNvPr id="230" name="Google Shape;230;p11"/>
          <p:cNvCxnSpPr/>
          <p:nvPr/>
        </p:nvCxnSpPr>
        <p:spPr>
          <a:xfrm>
            <a:off x="609600" y="1066800"/>
            <a:ext cx="10858500" cy="0"/>
          </a:xfrm>
          <a:prstGeom prst="straightConnector1">
            <a:avLst/>
          </a:prstGeom>
          <a:noFill/>
          <a:ln cap="flat" cmpd="sng" w="9525">
            <a:solidFill>
              <a:srgbClr val="C9D2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1" name="Google Shape;231;p11"/>
          <p:cNvSpPr/>
          <p:nvPr/>
        </p:nvSpPr>
        <p:spPr>
          <a:xfrm>
            <a:off x="11239500" y="6343650"/>
            <a:ext cx="457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0717E"/>
                </a:solidFill>
                <a:latin typeface="Noto Sans JP"/>
                <a:ea typeface="Noto Sans JP"/>
                <a:cs typeface="Noto Sans JP"/>
                <a:sym typeface="Noto Sans JP"/>
              </a:rPr>
              <a:t>10</a:t>
            </a:r>
            <a:endParaRPr/>
          </a:p>
        </p:txBody>
      </p:sp>
      <p:graphicFrame>
        <p:nvGraphicFramePr>
          <p:cNvPr id="232" name="Google Shape;232;p11"/>
          <p:cNvGraphicFramePr/>
          <p:nvPr/>
        </p:nvGraphicFramePr>
        <p:xfrm>
          <a:off x="857250" y="1543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{0709A6FC-12A7-416E-90A0-6B173EBC8397}</a:tableStyleId>
              </a:tblPr>
              <a:tblGrid>
                <a:gridCol w="5048250"/>
                <a:gridCol w="5429250"/>
              </a:tblGrid>
              <a:tr h="657225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50"/>
                        <a:buFont typeface="Noto Sans JP"/>
                        <a:buNone/>
                      </a:pPr>
                      <a:r>
                        <a:rPr b="1" lang="en-US" sz="165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ご提供いただくもの</a:t>
                      </a:r>
                      <a:endParaRPr/>
                    </a:p>
                  </a:txBody>
                  <a:tcPr marT="76200" marB="76200" marR="95250" marL="95250"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50"/>
                        <a:buFont typeface="Noto Sans JP"/>
                        <a:buNone/>
                      </a:pPr>
                      <a:r>
                        <a:rPr b="1" lang="en-US" sz="1650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研修で整備して返すもの</a:t>
                      </a:r>
                      <a:endParaRPr/>
                    </a:p>
                  </a:txBody>
                  <a:tcPr marT="76200" marB="76200" marR="95250" marL="95250">
                    <a:solidFill>
                      <a:srgbClr val="102A43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6"/>
                        </a:buClr>
                        <a:buSzPts val="1500"/>
                        <a:buFont typeface="Noto Sans JP"/>
                        <a:buNone/>
                      </a:pPr>
                      <a:r>
                        <a:rPr lang="en-US" sz="1500">
                          <a:solidFill>
                            <a:srgbClr val="1F2D36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過去案件のJWWまたはDXF</a:t>
                      </a:r>
                      <a:endParaRPr/>
                    </a:p>
                  </a:txBody>
                  <a:tcPr marT="76200" marB="76200" marR="114300" marL="114300"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6"/>
                        </a:buClr>
                        <a:buSzPts val="1500"/>
                        <a:buFont typeface="Noto Sans JP"/>
                        <a:buNone/>
                      </a:pPr>
                      <a:r>
                        <a:rPr lang="en-US" sz="1500">
                          <a:solidFill>
                            <a:srgbClr val="1F2D36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図面台帳・数量調書・拾い根拠図</a:t>
                      </a:r>
                      <a:endParaRPr/>
                    </a:p>
                  </a:txBody>
                  <a:tcPr marT="76200" marB="76200" marR="114300" marL="114300">
                    <a:solidFill>
                      <a:srgbClr val="E4F0EA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6"/>
                        </a:buClr>
                        <a:buSzPts val="1500"/>
                        <a:buFont typeface="Noto Sans JP"/>
                        <a:buNone/>
                      </a:pPr>
                      <a:r>
                        <a:rPr lang="en-US" sz="1500">
                          <a:solidFill>
                            <a:srgbClr val="1F2D36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正解となる数量調書・見積書</a:t>
                      </a:r>
                      <a:endParaRPr/>
                    </a:p>
                  </a:txBody>
                  <a:tcPr marT="76200" marB="76200" marR="114300" marL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6"/>
                        </a:buClr>
                        <a:buSzPts val="1500"/>
                        <a:buFont typeface="Noto Sans JP"/>
                        <a:buNone/>
                      </a:pPr>
                      <a:r>
                        <a:rPr lang="en-US" sz="1500">
                          <a:solidFill>
                            <a:srgbClr val="1F2D36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従来結果との比較レポート</a:t>
                      </a:r>
                      <a:endParaRPr/>
                    </a:p>
                  </a:txBody>
                  <a:tcPr marT="76200" marB="76200" marR="114300" marL="114300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6"/>
                        </a:buClr>
                        <a:buSzPts val="1500"/>
                        <a:buFont typeface="Noto Sans JP"/>
                        <a:buNone/>
                      </a:pPr>
                      <a:r>
                        <a:rPr lang="en-US" sz="1500">
                          <a:solidFill>
                            <a:srgbClr val="1F2D36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単価表・協力会社見積</a:t>
                      </a:r>
                      <a:endParaRPr/>
                    </a:p>
                  </a:txBody>
                  <a:tcPr marT="76200" marB="76200" marR="114300" marL="114300"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6"/>
                        </a:buClr>
                        <a:buSzPts val="1500"/>
                        <a:buFont typeface="Noto Sans JP"/>
                        <a:buNone/>
                      </a:pPr>
                      <a:r>
                        <a:rPr lang="en-US" sz="1500">
                          <a:solidFill>
                            <a:srgbClr val="1F2D36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承認済み単価マスタ・更新手順</a:t>
                      </a:r>
                      <a:endParaRPr/>
                    </a:p>
                  </a:txBody>
                  <a:tcPr marT="76200" marB="76200" marR="114300" marL="114300">
                    <a:solidFill>
                      <a:srgbClr val="E4F0EA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6"/>
                        </a:buClr>
                        <a:buSzPts val="1500"/>
                        <a:buFont typeface="Noto Sans JP"/>
                        <a:buNone/>
                      </a:pPr>
                      <a:r>
                        <a:rPr lang="en-US" sz="1500">
                          <a:solidFill>
                            <a:srgbClr val="1F2D36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仕上表・建具表・工事範囲</a:t>
                      </a:r>
                      <a:endParaRPr/>
                    </a:p>
                  </a:txBody>
                  <a:tcPr marT="76200" marB="76200" marR="114300" marL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6"/>
                        </a:buClr>
                        <a:buSzPts val="1500"/>
                        <a:buFont typeface="Noto Sans JP"/>
                        <a:buNone/>
                      </a:pPr>
                      <a:r>
                        <a:rPr lang="en-US" sz="1500">
                          <a:solidFill>
                            <a:srgbClr val="1F2D36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要確認一覧・除外範囲の記録</a:t>
                      </a:r>
                      <a:endParaRPr/>
                    </a:p>
                  </a:txBody>
                  <a:tcPr marT="76200" marB="76200" marR="114300" marL="114300">
                    <a:solidFill>
                      <a:srgbClr val="FFFFFF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6"/>
                        </a:buClr>
                        <a:buSzPts val="1500"/>
                        <a:buFont typeface="Noto Sans JP"/>
                        <a:buNone/>
                      </a:pPr>
                      <a:r>
                        <a:rPr lang="en-US" sz="1500">
                          <a:solidFill>
                            <a:srgbClr val="1F2D36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現在の拾い方と確認方法</a:t>
                      </a:r>
                      <a:endParaRPr/>
                    </a:p>
                  </a:txBody>
                  <a:tcPr marT="76200" marB="76200" marR="114300" marL="114300">
                    <a:solidFill>
                      <a:srgbClr val="EAF0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D36"/>
                        </a:buClr>
                        <a:buSzPts val="1500"/>
                        <a:buFont typeface="Noto Sans JP"/>
                        <a:buNone/>
                      </a:pPr>
                      <a:r>
                        <a:rPr lang="en-US" sz="1500">
                          <a:solidFill>
                            <a:srgbClr val="1F2D36"/>
                          </a:solidFill>
                          <a:latin typeface="Noto Sans JP"/>
                          <a:ea typeface="Noto Sans JP"/>
                          <a:cs typeface="Noto Sans JP"/>
                          <a:sym typeface="Noto Sans JP"/>
                        </a:rPr>
                        <a:t>レイヤ基準・拾い方ルール・運用手順</a:t>
                      </a:r>
                      <a:endParaRPr/>
                    </a:p>
                  </a:txBody>
                  <a:tcPr marT="76200" marB="76200" marR="114300" marL="114300">
                    <a:solidFill>
                      <a:srgbClr val="E4F0EA"/>
                    </a:solidFill>
                  </a:tcPr>
                </a:tc>
              </a:tr>
            </a:tbl>
          </a:graphicData>
        </a:graphic>
      </p:graphicFrame>
      <p:sp>
        <p:nvSpPr>
          <p:cNvPr id="233" name="Google Shape;233;p11"/>
          <p:cNvSpPr/>
          <p:nvPr/>
        </p:nvSpPr>
        <p:spPr>
          <a:xfrm>
            <a:off x="1352550" y="5772150"/>
            <a:ext cx="94869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A64B3C"/>
                </a:solidFill>
                <a:latin typeface="Noto Sans JP"/>
                <a:ea typeface="Noto Sans JP"/>
                <a:cs typeface="Noto Sans JP"/>
                <a:sym typeface="Noto Sans JP"/>
              </a:rPr>
              <a:t>実案件の情報は、利用目的・保管・外部送信の範囲を事前に合意します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C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F8A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2"/>
          <p:cNvSpPr/>
          <p:nvPr/>
        </p:nvSpPr>
        <p:spPr>
          <a:xfrm>
            <a:off x="609600" y="400050"/>
            <a:ext cx="10572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02A43"/>
                </a:solidFill>
                <a:latin typeface="Noto Sans JP"/>
                <a:ea typeface="Noto Sans JP"/>
                <a:cs typeface="Noto Sans JP"/>
                <a:sym typeface="Noto Sans JP"/>
              </a:rPr>
              <a:t>費用対効果は、導入前後の実測で判断する</a:t>
            </a:r>
            <a:endParaRPr/>
          </a:p>
        </p:txBody>
      </p:sp>
      <p:cxnSp>
        <p:nvCxnSpPr>
          <p:cNvPr id="241" name="Google Shape;241;p12"/>
          <p:cNvCxnSpPr/>
          <p:nvPr/>
        </p:nvCxnSpPr>
        <p:spPr>
          <a:xfrm>
            <a:off x="609600" y="1066800"/>
            <a:ext cx="10858500" cy="0"/>
          </a:xfrm>
          <a:prstGeom prst="straightConnector1">
            <a:avLst/>
          </a:prstGeom>
          <a:noFill/>
          <a:ln cap="flat" cmpd="sng" w="9525">
            <a:solidFill>
              <a:srgbClr val="C9D2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2" name="Google Shape;242;p12"/>
          <p:cNvSpPr/>
          <p:nvPr/>
        </p:nvSpPr>
        <p:spPr>
          <a:xfrm>
            <a:off x="11239500" y="6343650"/>
            <a:ext cx="457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0717E"/>
                </a:solidFill>
                <a:latin typeface="Noto Sans JP"/>
                <a:ea typeface="Noto Sans JP"/>
                <a:cs typeface="Noto Sans JP"/>
                <a:sym typeface="Noto Sans JP"/>
              </a:rPr>
              <a:t>11</a:t>
            </a:r>
            <a:endParaRPr/>
          </a:p>
        </p:txBody>
      </p:sp>
      <p:sp>
        <p:nvSpPr>
          <p:cNvPr id="243" name="Google Shape;243;p12"/>
          <p:cNvSpPr/>
          <p:nvPr/>
        </p:nvSpPr>
        <p:spPr>
          <a:xfrm>
            <a:off x="990600" y="1428750"/>
            <a:ext cx="10210800" cy="1066800"/>
          </a:xfrm>
          <a:prstGeom prst="roundRect">
            <a:avLst>
              <a:gd fmla="val 7143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12"/>
          <p:cNvSpPr/>
          <p:nvPr/>
        </p:nvSpPr>
        <p:spPr>
          <a:xfrm>
            <a:off x="1200150" y="1676400"/>
            <a:ext cx="9791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年間効果 ＝ 1案件の削減時間 × 年間案件数 × 社内時間単価</a:t>
            </a:r>
            <a:endParaRPr/>
          </a:p>
        </p:txBody>
      </p:sp>
      <p:sp>
        <p:nvSpPr>
          <p:cNvPr id="245" name="Google Shape;245;p12"/>
          <p:cNvSpPr/>
          <p:nvPr/>
        </p:nvSpPr>
        <p:spPr>
          <a:xfrm>
            <a:off x="1219200" y="3028950"/>
            <a:ext cx="4381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D96C32"/>
                </a:solidFill>
                <a:latin typeface="Noto Sans JP"/>
                <a:ea typeface="Noto Sans JP"/>
                <a:cs typeface="Noto Sans JP"/>
                <a:sym typeface="Noto Sans JP"/>
              </a:rPr>
              <a:t>01</a:t>
            </a:r>
            <a:endParaRPr/>
          </a:p>
        </p:txBody>
      </p:sp>
      <p:sp>
        <p:nvSpPr>
          <p:cNvPr id="246" name="Google Shape;246;p12"/>
          <p:cNvSpPr/>
          <p:nvPr/>
        </p:nvSpPr>
        <p:spPr>
          <a:xfrm>
            <a:off x="1828800" y="2990850"/>
            <a:ext cx="266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02A43"/>
                </a:solidFill>
                <a:latin typeface="Noto Sans JP"/>
                <a:ea typeface="Noto Sans JP"/>
                <a:cs typeface="Noto Sans JP"/>
                <a:sym typeface="Noto Sans JP"/>
              </a:rPr>
              <a:t>数量拾い時間</a:t>
            </a:r>
            <a:endParaRPr/>
          </a:p>
        </p:txBody>
      </p:sp>
      <p:sp>
        <p:nvSpPr>
          <p:cNvPr id="247" name="Google Shape;247;p12"/>
          <p:cNvSpPr/>
          <p:nvPr/>
        </p:nvSpPr>
        <p:spPr>
          <a:xfrm>
            <a:off x="4686300" y="2990850"/>
            <a:ext cx="61912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従来と研修案件を同条件で比較</a:t>
            </a:r>
            <a:endParaRPr/>
          </a:p>
        </p:txBody>
      </p:sp>
      <p:cxnSp>
        <p:nvCxnSpPr>
          <p:cNvPr id="248" name="Google Shape;248;p12"/>
          <p:cNvCxnSpPr/>
          <p:nvPr/>
        </p:nvCxnSpPr>
        <p:spPr>
          <a:xfrm>
            <a:off x="1790700" y="3486150"/>
            <a:ext cx="8953500" cy="0"/>
          </a:xfrm>
          <a:prstGeom prst="straightConnector1">
            <a:avLst/>
          </a:prstGeom>
          <a:noFill/>
          <a:ln cap="flat" cmpd="sng" w="9525">
            <a:solidFill>
              <a:srgbClr val="C9D2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9" name="Google Shape;249;p12"/>
          <p:cNvSpPr/>
          <p:nvPr/>
        </p:nvSpPr>
        <p:spPr>
          <a:xfrm>
            <a:off x="1219200" y="3657600"/>
            <a:ext cx="4381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D96C32"/>
                </a:solidFill>
                <a:latin typeface="Noto Sans JP"/>
                <a:ea typeface="Noto Sans JP"/>
                <a:cs typeface="Noto Sans JP"/>
                <a:sym typeface="Noto Sans JP"/>
              </a:rPr>
              <a:t>02</a:t>
            </a:r>
            <a:endParaRPr/>
          </a:p>
        </p:txBody>
      </p:sp>
      <p:sp>
        <p:nvSpPr>
          <p:cNvPr id="250" name="Google Shape;250;p12"/>
          <p:cNvSpPr/>
          <p:nvPr/>
        </p:nvSpPr>
        <p:spPr>
          <a:xfrm>
            <a:off x="1828800" y="3619500"/>
            <a:ext cx="266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02A43"/>
                </a:solidFill>
                <a:latin typeface="Noto Sans JP"/>
                <a:ea typeface="Noto Sans JP"/>
                <a:cs typeface="Noto Sans JP"/>
                <a:sym typeface="Noto Sans JP"/>
              </a:rPr>
              <a:t>検算時間</a:t>
            </a:r>
            <a:endParaRPr/>
          </a:p>
        </p:txBody>
      </p:sp>
      <p:sp>
        <p:nvSpPr>
          <p:cNvPr id="251" name="Google Shape;251;p12"/>
          <p:cNvSpPr/>
          <p:nvPr/>
        </p:nvSpPr>
        <p:spPr>
          <a:xfrm>
            <a:off x="4686300" y="3619500"/>
            <a:ext cx="61912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確認待ちと再確認を含めて記録</a:t>
            </a:r>
            <a:endParaRPr/>
          </a:p>
        </p:txBody>
      </p:sp>
      <p:cxnSp>
        <p:nvCxnSpPr>
          <p:cNvPr id="252" name="Google Shape;252;p12"/>
          <p:cNvCxnSpPr/>
          <p:nvPr/>
        </p:nvCxnSpPr>
        <p:spPr>
          <a:xfrm>
            <a:off x="1790700" y="4114800"/>
            <a:ext cx="8953500" cy="0"/>
          </a:xfrm>
          <a:prstGeom prst="straightConnector1">
            <a:avLst/>
          </a:prstGeom>
          <a:noFill/>
          <a:ln cap="flat" cmpd="sng" w="9525">
            <a:solidFill>
              <a:srgbClr val="C9D2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3" name="Google Shape;253;p12"/>
          <p:cNvSpPr/>
          <p:nvPr/>
        </p:nvSpPr>
        <p:spPr>
          <a:xfrm>
            <a:off x="1219200" y="4286250"/>
            <a:ext cx="4381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D96C32"/>
                </a:solidFill>
                <a:latin typeface="Noto Sans JP"/>
                <a:ea typeface="Noto Sans JP"/>
                <a:cs typeface="Noto Sans JP"/>
                <a:sym typeface="Noto Sans JP"/>
              </a:rPr>
              <a:t>03</a:t>
            </a:r>
            <a:endParaRPr/>
          </a:p>
        </p:txBody>
      </p:sp>
      <p:sp>
        <p:nvSpPr>
          <p:cNvPr id="254" name="Google Shape;254;p12"/>
          <p:cNvSpPr/>
          <p:nvPr/>
        </p:nvSpPr>
        <p:spPr>
          <a:xfrm>
            <a:off x="1828800" y="4248150"/>
            <a:ext cx="266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02A43"/>
                </a:solidFill>
                <a:latin typeface="Noto Sans JP"/>
                <a:ea typeface="Noto Sans JP"/>
                <a:cs typeface="Noto Sans JP"/>
                <a:sym typeface="Noto Sans JP"/>
              </a:rPr>
              <a:t>修正・拾い漏れ</a:t>
            </a:r>
            <a:endParaRPr/>
          </a:p>
        </p:txBody>
      </p:sp>
      <p:sp>
        <p:nvSpPr>
          <p:cNvPr id="255" name="Google Shape;255;p12"/>
          <p:cNvSpPr/>
          <p:nvPr/>
        </p:nvSpPr>
        <p:spPr>
          <a:xfrm>
            <a:off x="4686300" y="4248150"/>
            <a:ext cx="61912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件数と原因を記録</a:t>
            </a:r>
            <a:endParaRPr/>
          </a:p>
        </p:txBody>
      </p:sp>
      <p:cxnSp>
        <p:nvCxnSpPr>
          <p:cNvPr id="256" name="Google Shape;256;p12"/>
          <p:cNvCxnSpPr/>
          <p:nvPr/>
        </p:nvCxnSpPr>
        <p:spPr>
          <a:xfrm>
            <a:off x="1790700" y="4743450"/>
            <a:ext cx="8953500" cy="0"/>
          </a:xfrm>
          <a:prstGeom prst="straightConnector1">
            <a:avLst/>
          </a:prstGeom>
          <a:noFill/>
          <a:ln cap="flat" cmpd="sng" w="9525">
            <a:solidFill>
              <a:srgbClr val="C9D2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7" name="Google Shape;257;p12"/>
          <p:cNvSpPr/>
          <p:nvPr/>
        </p:nvSpPr>
        <p:spPr>
          <a:xfrm>
            <a:off x="1219200" y="4914900"/>
            <a:ext cx="4381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75">
                <a:solidFill>
                  <a:srgbClr val="D96C32"/>
                </a:solidFill>
                <a:latin typeface="Noto Sans JP"/>
                <a:ea typeface="Noto Sans JP"/>
                <a:cs typeface="Noto Sans JP"/>
                <a:sym typeface="Noto Sans JP"/>
              </a:rPr>
              <a:t>04</a:t>
            </a:r>
            <a:endParaRPr/>
          </a:p>
        </p:txBody>
      </p:sp>
      <p:sp>
        <p:nvSpPr>
          <p:cNvPr id="258" name="Google Shape;258;p12"/>
          <p:cNvSpPr/>
          <p:nvPr/>
        </p:nvSpPr>
        <p:spPr>
          <a:xfrm>
            <a:off x="1828800" y="4876800"/>
            <a:ext cx="26670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102A43"/>
                </a:solidFill>
                <a:latin typeface="Noto Sans JP"/>
                <a:ea typeface="Noto Sans JP"/>
                <a:cs typeface="Noto Sans JP"/>
                <a:sym typeface="Noto Sans JP"/>
              </a:rPr>
              <a:t>再利用できるルール</a:t>
            </a:r>
            <a:endParaRPr/>
          </a:p>
        </p:txBody>
      </p:sp>
      <p:sp>
        <p:nvSpPr>
          <p:cNvPr id="259" name="Google Shape;259;p12"/>
          <p:cNvSpPr/>
          <p:nvPr/>
        </p:nvSpPr>
        <p:spPr>
          <a:xfrm>
            <a:off x="4686300" y="4876800"/>
            <a:ext cx="619125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575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次案件でも使えた割合を確認</a:t>
            </a:r>
            <a:endParaRPr/>
          </a:p>
        </p:txBody>
      </p:sp>
      <p:sp>
        <p:nvSpPr>
          <p:cNvPr id="260" name="Google Shape;260;p12"/>
          <p:cNvSpPr/>
          <p:nvPr/>
        </p:nvSpPr>
        <p:spPr>
          <a:xfrm>
            <a:off x="1828800" y="5657850"/>
            <a:ext cx="8534400" cy="533400"/>
          </a:xfrm>
          <a:prstGeom prst="roundRect">
            <a:avLst>
              <a:gd fmla="val 14286" name="adj"/>
            </a:avLst>
          </a:prstGeom>
          <a:solidFill>
            <a:srgbClr val="F8E5D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2"/>
          <p:cNvSpPr/>
          <p:nvPr/>
        </p:nvSpPr>
        <p:spPr>
          <a:xfrm>
            <a:off x="2095500" y="5734050"/>
            <a:ext cx="80010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A64B3C"/>
                </a:solidFill>
                <a:latin typeface="Noto Sans JP"/>
                <a:ea typeface="Noto Sans JP"/>
                <a:cs typeface="Noto Sans JP"/>
                <a:sym typeface="Noto Sans JP"/>
              </a:rPr>
              <a:t>効果が確認できた業務だけを次の開発対象にします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C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3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F8A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3"/>
          <p:cNvSpPr/>
          <p:nvPr/>
        </p:nvSpPr>
        <p:spPr>
          <a:xfrm>
            <a:off x="609600" y="400050"/>
            <a:ext cx="10572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102A43"/>
                </a:solidFill>
                <a:latin typeface="Noto Sans JP"/>
                <a:ea typeface="Noto Sans JP"/>
                <a:cs typeface="Noto Sans JP"/>
                <a:sym typeface="Noto Sans JP"/>
              </a:rPr>
              <a:t>安心して使うための線引き</a:t>
            </a:r>
            <a:endParaRPr/>
          </a:p>
        </p:txBody>
      </p:sp>
      <p:cxnSp>
        <p:nvCxnSpPr>
          <p:cNvPr id="269" name="Google Shape;269;p13"/>
          <p:cNvCxnSpPr/>
          <p:nvPr/>
        </p:nvCxnSpPr>
        <p:spPr>
          <a:xfrm>
            <a:off x="609600" y="1066800"/>
            <a:ext cx="10858500" cy="0"/>
          </a:xfrm>
          <a:prstGeom prst="straightConnector1">
            <a:avLst/>
          </a:prstGeom>
          <a:noFill/>
          <a:ln cap="flat" cmpd="sng" w="9525">
            <a:solidFill>
              <a:srgbClr val="C9D2D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0" name="Google Shape;270;p13"/>
          <p:cNvSpPr/>
          <p:nvPr/>
        </p:nvSpPr>
        <p:spPr>
          <a:xfrm>
            <a:off x="11239500" y="6343650"/>
            <a:ext cx="457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60717E"/>
                </a:solidFill>
                <a:latin typeface="Noto Sans JP"/>
                <a:ea typeface="Noto Sans JP"/>
                <a:cs typeface="Noto Sans JP"/>
                <a:sym typeface="Noto Sans JP"/>
              </a:rPr>
              <a:t>12</a:t>
            </a:r>
            <a:endParaRPr/>
          </a:p>
        </p:txBody>
      </p:sp>
      <p:sp>
        <p:nvSpPr>
          <p:cNvPr id="271" name="Google Shape;271;p13"/>
          <p:cNvSpPr/>
          <p:nvPr/>
        </p:nvSpPr>
        <p:spPr>
          <a:xfrm>
            <a:off x="876300" y="1333500"/>
            <a:ext cx="104394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25">
                <a:solidFill>
                  <a:srgbClr val="102A43"/>
                </a:solidFill>
                <a:latin typeface="Noto Sans JP"/>
                <a:ea typeface="Noto Sans JP"/>
                <a:cs typeface="Noto Sans JP"/>
                <a:sym typeface="Noto Sans JP"/>
              </a:rPr>
              <a:t>できないことを先に合意すると、現場で迷いません</a:t>
            </a:r>
            <a:endParaRPr/>
          </a:p>
        </p:txBody>
      </p:sp>
      <p:sp>
        <p:nvSpPr>
          <p:cNvPr id="272" name="Google Shape;272;p13"/>
          <p:cNvSpPr/>
          <p:nvPr/>
        </p:nvSpPr>
        <p:spPr>
          <a:xfrm>
            <a:off x="1676400" y="2133600"/>
            <a:ext cx="1524000" cy="323850"/>
          </a:xfrm>
          <a:prstGeom prst="roundRect">
            <a:avLst>
              <a:gd fmla="val 23529" name="adj"/>
            </a:avLst>
          </a:prstGeom>
          <a:solidFill>
            <a:srgbClr val="1F8A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3"/>
          <p:cNvSpPr/>
          <p:nvPr/>
        </p:nvSpPr>
        <p:spPr>
          <a:xfrm>
            <a:off x="1752600" y="2143125"/>
            <a:ext cx="13716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数量・見積</a:t>
            </a:r>
            <a:endParaRPr/>
          </a:p>
        </p:txBody>
      </p:sp>
      <p:sp>
        <p:nvSpPr>
          <p:cNvPr id="274" name="Google Shape;274;p13"/>
          <p:cNvSpPr/>
          <p:nvPr/>
        </p:nvSpPr>
        <p:spPr>
          <a:xfrm>
            <a:off x="7867650" y="2133600"/>
            <a:ext cx="1524000" cy="323850"/>
          </a:xfrm>
          <a:prstGeom prst="roundRect">
            <a:avLst>
              <a:gd fmla="val 23529" name="adj"/>
            </a:avLst>
          </a:prstGeom>
          <a:solidFill>
            <a:srgbClr val="D96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3"/>
          <p:cNvSpPr/>
          <p:nvPr/>
        </p:nvSpPr>
        <p:spPr>
          <a:xfrm>
            <a:off x="7943850" y="2143125"/>
            <a:ext cx="13716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19050" spcFirstLastPara="1" rIns="1905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設計・責任</a:t>
            </a:r>
            <a:endParaRPr/>
          </a:p>
        </p:txBody>
      </p:sp>
      <p:sp>
        <p:nvSpPr>
          <p:cNvPr id="276" name="Google Shape;276;p13"/>
          <p:cNvSpPr/>
          <p:nvPr/>
        </p:nvSpPr>
        <p:spPr>
          <a:xfrm>
            <a:off x="1028700" y="2876550"/>
            <a:ext cx="95250" cy="438150"/>
          </a:xfrm>
          <a:prstGeom prst="roundRect">
            <a:avLst>
              <a:gd fmla="val 50000" name="adj"/>
            </a:avLst>
          </a:prstGeom>
          <a:solidFill>
            <a:srgbClr val="1F8A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3"/>
          <p:cNvSpPr/>
          <p:nvPr/>
        </p:nvSpPr>
        <p:spPr>
          <a:xfrm>
            <a:off x="1295400" y="2819400"/>
            <a:ext cx="4286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図面に無い情報を推測しない</a:t>
            </a:r>
            <a:endParaRPr/>
          </a:p>
        </p:txBody>
      </p:sp>
      <p:sp>
        <p:nvSpPr>
          <p:cNvPr id="278" name="Google Shape;278;p13"/>
          <p:cNvSpPr/>
          <p:nvPr/>
        </p:nvSpPr>
        <p:spPr>
          <a:xfrm>
            <a:off x="1028700" y="3657600"/>
            <a:ext cx="95250" cy="438150"/>
          </a:xfrm>
          <a:prstGeom prst="roundRect">
            <a:avLst>
              <a:gd fmla="val 50000" name="adj"/>
            </a:avLst>
          </a:prstGeom>
          <a:solidFill>
            <a:srgbClr val="1F8A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3"/>
          <p:cNvSpPr/>
          <p:nvPr/>
        </p:nvSpPr>
        <p:spPr>
          <a:xfrm>
            <a:off x="1295400" y="3600450"/>
            <a:ext cx="4286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仕上表・建具表の不足を自動補完しない</a:t>
            </a:r>
            <a:endParaRPr/>
          </a:p>
        </p:txBody>
      </p:sp>
      <p:sp>
        <p:nvSpPr>
          <p:cNvPr id="280" name="Google Shape;280;p13"/>
          <p:cNvSpPr/>
          <p:nvPr/>
        </p:nvSpPr>
        <p:spPr>
          <a:xfrm>
            <a:off x="1028700" y="4438650"/>
            <a:ext cx="95250" cy="438150"/>
          </a:xfrm>
          <a:prstGeom prst="roundRect">
            <a:avLst>
              <a:gd fmla="val 50000" name="adj"/>
            </a:avLst>
          </a:prstGeom>
          <a:solidFill>
            <a:srgbClr val="1F8A8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3"/>
          <p:cNvSpPr/>
          <p:nvPr/>
        </p:nvSpPr>
        <p:spPr>
          <a:xfrm>
            <a:off x="1295400" y="4381500"/>
            <a:ext cx="4286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複雑な形状や対象外工種を勝手に計上しない</a:t>
            </a:r>
            <a:endParaRPr/>
          </a:p>
        </p:txBody>
      </p:sp>
      <p:sp>
        <p:nvSpPr>
          <p:cNvPr id="282" name="Google Shape;282;p13"/>
          <p:cNvSpPr/>
          <p:nvPr/>
        </p:nvSpPr>
        <p:spPr>
          <a:xfrm>
            <a:off x="6591300" y="2876550"/>
            <a:ext cx="95250" cy="438150"/>
          </a:xfrm>
          <a:prstGeom prst="roundRect">
            <a:avLst>
              <a:gd fmla="val 50000" name="adj"/>
            </a:avLst>
          </a:prstGeom>
          <a:solidFill>
            <a:srgbClr val="D96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3"/>
          <p:cNvSpPr/>
          <p:nvPr/>
        </p:nvSpPr>
        <p:spPr>
          <a:xfrm>
            <a:off x="6858000" y="2819400"/>
            <a:ext cx="4286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法適合・構造安全・設備方式を判断しない</a:t>
            </a:r>
            <a:endParaRPr/>
          </a:p>
        </p:txBody>
      </p:sp>
      <p:sp>
        <p:nvSpPr>
          <p:cNvPr id="284" name="Google Shape;284;p13"/>
          <p:cNvSpPr/>
          <p:nvPr/>
        </p:nvSpPr>
        <p:spPr>
          <a:xfrm>
            <a:off x="6591300" y="3657600"/>
            <a:ext cx="95250" cy="438150"/>
          </a:xfrm>
          <a:prstGeom prst="roundRect">
            <a:avLst>
              <a:gd fmla="val 50000" name="adj"/>
            </a:avLst>
          </a:prstGeom>
          <a:solidFill>
            <a:srgbClr val="D96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3"/>
          <p:cNvSpPr/>
          <p:nvPr/>
        </p:nvSpPr>
        <p:spPr>
          <a:xfrm>
            <a:off x="6858000" y="3600450"/>
            <a:ext cx="4286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建築士や専門設計者の確認を省略しない</a:t>
            </a:r>
            <a:endParaRPr/>
          </a:p>
        </p:txBody>
      </p:sp>
      <p:sp>
        <p:nvSpPr>
          <p:cNvPr id="286" name="Google Shape;286;p13"/>
          <p:cNvSpPr/>
          <p:nvPr/>
        </p:nvSpPr>
        <p:spPr>
          <a:xfrm>
            <a:off x="6591300" y="4438650"/>
            <a:ext cx="95250" cy="438150"/>
          </a:xfrm>
          <a:prstGeom prst="roundRect">
            <a:avLst>
              <a:gd fmla="val 50000" name="adj"/>
            </a:avLst>
          </a:prstGeom>
          <a:solidFill>
            <a:srgbClr val="D96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3"/>
          <p:cNvSpPr/>
          <p:nvPr/>
        </p:nvSpPr>
        <p:spPr>
          <a:xfrm>
            <a:off x="6858000" y="4381500"/>
            <a:ext cx="42862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50">
                <a:solidFill>
                  <a:srgbClr val="1F2D36"/>
                </a:solidFill>
                <a:latin typeface="Noto Sans JP"/>
                <a:ea typeface="Noto Sans JP"/>
                <a:cs typeface="Noto Sans JP"/>
                <a:sym typeface="Noto Sans JP"/>
              </a:rPr>
              <a:t>AIが顧客へ提出・送信しない</a:t>
            </a:r>
            <a:endParaRPr/>
          </a:p>
        </p:txBody>
      </p:sp>
      <p:sp>
        <p:nvSpPr>
          <p:cNvPr id="288" name="Google Shape;288;p13"/>
          <p:cNvSpPr/>
          <p:nvPr/>
        </p:nvSpPr>
        <p:spPr>
          <a:xfrm>
            <a:off x="971550" y="5467350"/>
            <a:ext cx="10248900" cy="666750"/>
          </a:xfrm>
          <a:prstGeom prst="roundRect">
            <a:avLst>
              <a:gd fmla="val 11429" name="adj"/>
            </a:avLst>
          </a:prstGeom>
          <a:solidFill>
            <a:srgbClr val="102A4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3"/>
          <p:cNvSpPr/>
          <p:nvPr/>
        </p:nvSpPr>
        <p:spPr>
          <a:xfrm>
            <a:off x="1257300" y="5600700"/>
            <a:ext cx="96774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出力は人が確認する下書き。責任を曖昧にする自動化は行いません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02A43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4"/>
          <p:cNvSpPr/>
          <p:nvPr/>
        </p:nvSpPr>
        <p:spPr>
          <a:xfrm>
            <a:off x="609600" y="400050"/>
            <a:ext cx="105727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過去案件1件から始める実証案</a:t>
            </a:r>
            <a:endParaRPr/>
          </a:p>
        </p:txBody>
      </p:sp>
      <p:cxnSp>
        <p:nvCxnSpPr>
          <p:cNvPr id="296" name="Google Shape;296;p14"/>
          <p:cNvCxnSpPr/>
          <p:nvPr/>
        </p:nvCxnSpPr>
        <p:spPr>
          <a:xfrm>
            <a:off x="609600" y="1066800"/>
            <a:ext cx="10858500" cy="0"/>
          </a:xfrm>
          <a:prstGeom prst="straightConnector1">
            <a:avLst/>
          </a:prstGeom>
          <a:noFill/>
          <a:ln cap="flat" cmpd="sng" w="9525">
            <a:solidFill>
              <a:srgbClr val="54708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7" name="Google Shape;297;p14"/>
          <p:cNvSpPr/>
          <p:nvPr/>
        </p:nvSpPr>
        <p:spPr>
          <a:xfrm>
            <a:off x="11239500" y="6343650"/>
            <a:ext cx="457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A7BAC8"/>
                </a:solidFill>
                <a:latin typeface="Noto Sans JP"/>
                <a:ea typeface="Noto Sans JP"/>
                <a:cs typeface="Noto Sans JP"/>
                <a:sym typeface="Noto Sans JP"/>
              </a:rPr>
              <a:t>15</a:t>
            </a:r>
            <a:endParaRPr/>
          </a:p>
        </p:txBody>
      </p:sp>
      <p:sp>
        <p:nvSpPr>
          <p:cNvPr id="298" name="Google Shape;298;p14"/>
          <p:cNvSpPr/>
          <p:nvPr/>
        </p:nvSpPr>
        <p:spPr>
          <a:xfrm>
            <a:off x="933450" y="1371600"/>
            <a:ext cx="103251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25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全面導入を決める前に、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25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1案件で投資判断できる状態を作ります</a:t>
            </a:r>
            <a:endParaRPr/>
          </a:p>
        </p:txBody>
      </p:sp>
      <p:sp>
        <p:nvSpPr>
          <p:cNvPr id="299" name="Google Shape;299;p14"/>
          <p:cNvSpPr/>
          <p:nvPr/>
        </p:nvSpPr>
        <p:spPr>
          <a:xfrm>
            <a:off x="1066800" y="2952750"/>
            <a:ext cx="952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D96C32"/>
                </a:solidFill>
                <a:latin typeface="Noto Sans JP"/>
                <a:ea typeface="Noto Sans JP"/>
                <a:cs typeface="Noto Sans JP"/>
                <a:sym typeface="Noto Sans JP"/>
              </a:rPr>
              <a:t>対象</a:t>
            </a:r>
            <a:endParaRPr/>
          </a:p>
        </p:txBody>
      </p:sp>
      <p:sp>
        <p:nvSpPr>
          <p:cNvPr id="300" name="Google Shape;300;p14"/>
          <p:cNvSpPr/>
          <p:nvPr/>
        </p:nvSpPr>
        <p:spPr>
          <a:xfrm>
            <a:off x="2095500" y="2905125"/>
            <a:ext cx="4000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AF2F6"/>
                </a:solidFill>
                <a:latin typeface="Noto Sans JP"/>
                <a:ea typeface="Noto Sans JP"/>
                <a:cs typeface="Noto Sans JP"/>
                <a:sym typeface="Noto Sans JP"/>
              </a:rPr>
              <a:t>比較できる過去案件 1件</a:t>
            </a:r>
            <a:endParaRPr/>
          </a:p>
        </p:txBody>
      </p:sp>
      <p:sp>
        <p:nvSpPr>
          <p:cNvPr id="301" name="Google Shape;301;p14"/>
          <p:cNvSpPr/>
          <p:nvPr/>
        </p:nvSpPr>
        <p:spPr>
          <a:xfrm>
            <a:off x="6324600" y="2952750"/>
            <a:ext cx="952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D96C32"/>
                </a:solidFill>
                <a:latin typeface="Noto Sans JP"/>
                <a:ea typeface="Noto Sans JP"/>
                <a:cs typeface="Noto Sans JP"/>
                <a:sym typeface="Noto Sans JP"/>
              </a:rPr>
              <a:t>期間</a:t>
            </a:r>
            <a:endParaRPr/>
          </a:p>
        </p:txBody>
      </p:sp>
      <p:sp>
        <p:nvSpPr>
          <p:cNvPr id="302" name="Google Shape;302;p14"/>
          <p:cNvSpPr/>
          <p:nvPr/>
        </p:nvSpPr>
        <p:spPr>
          <a:xfrm>
            <a:off x="7353300" y="2905125"/>
            <a:ext cx="4000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AF2F6"/>
                </a:solidFill>
                <a:latin typeface="Noto Sans JP"/>
                <a:ea typeface="Noto Sans JP"/>
                <a:cs typeface="Noto Sans JP"/>
                <a:sym typeface="Noto Sans JP"/>
              </a:rPr>
              <a:t>全6回・各120分（1人12時間）</a:t>
            </a:r>
            <a:endParaRPr/>
          </a:p>
        </p:txBody>
      </p:sp>
      <p:sp>
        <p:nvSpPr>
          <p:cNvPr id="303" name="Google Shape;303;p14"/>
          <p:cNvSpPr/>
          <p:nvPr/>
        </p:nvSpPr>
        <p:spPr>
          <a:xfrm>
            <a:off x="1066800" y="4095750"/>
            <a:ext cx="952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D96C32"/>
                </a:solidFill>
                <a:latin typeface="Noto Sans JP"/>
                <a:ea typeface="Noto Sans JP"/>
                <a:cs typeface="Noto Sans JP"/>
                <a:sym typeface="Noto Sans JP"/>
              </a:rPr>
              <a:t>参加</a:t>
            </a:r>
            <a:endParaRPr/>
          </a:p>
        </p:txBody>
      </p:sp>
      <p:sp>
        <p:nvSpPr>
          <p:cNvPr id="304" name="Google Shape;304;p14"/>
          <p:cNvSpPr/>
          <p:nvPr/>
        </p:nvSpPr>
        <p:spPr>
          <a:xfrm>
            <a:off x="2095500" y="4048125"/>
            <a:ext cx="4000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EAF2F6"/>
                </a:solidFill>
                <a:latin typeface="Noto Sans JP"/>
                <a:ea typeface="Noto Sans JP"/>
                <a:cs typeface="Noto Sans JP"/>
                <a:sym typeface="Noto Sans JP"/>
              </a:rPr>
              <a:t>30名想定（建築士・積算担当ほか）</a:t>
            </a:r>
            <a:endParaRPr/>
          </a:p>
        </p:txBody>
      </p:sp>
      <p:sp>
        <p:nvSpPr>
          <p:cNvPr id="305" name="Google Shape;305;p14"/>
          <p:cNvSpPr/>
          <p:nvPr/>
        </p:nvSpPr>
        <p:spPr>
          <a:xfrm>
            <a:off x="6324600" y="4095750"/>
            <a:ext cx="9525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D96C32"/>
                </a:solidFill>
                <a:latin typeface="Noto Sans JP"/>
                <a:ea typeface="Noto Sans JP"/>
                <a:cs typeface="Noto Sans JP"/>
                <a:sym typeface="Noto Sans JP"/>
              </a:rPr>
              <a:t>判断</a:t>
            </a:r>
            <a:endParaRPr/>
          </a:p>
        </p:txBody>
      </p:sp>
      <p:sp>
        <p:nvSpPr>
          <p:cNvPr id="306" name="Google Shape;306;p14"/>
          <p:cNvSpPr/>
          <p:nvPr/>
        </p:nvSpPr>
        <p:spPr>
          <a:xfrm>
            <a:off x="7353300" y="4048125"/>
            <a:ext cx="4000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80">
                <a:solidFill>
                  <a:srgbClr val="EAF2F6"/>
                </a:solidFill>
                <a:latin typeface="Noto Sans JP"/>
                <a:ea typeface="Noto Sans JP"/>
                <a:cs typeface="Noto Sans JP"/>
                <a:sym typeface="Noto Sans JP"/>
              </a:rPr>
              <a:t>時間、修正、再利用性を測って継続可否を決定</a:t>
            </a:r>
            <a:endParaRPr/>
          </a:p>
        </p:txBody>
      </p:sp>
      <p:cxnSp>
        <p:nvCxnSpPr>
          <p:cNvPr id="307" name="Google Shape;307;p14"/>
          <p:cNvCxnSpPr/>
          <p:nvPr/>
        </p:nvCxnSpPr>
        <p:spPr>
          <a:xfrm>
            <a:off x="1047750" y="5219700"/>
            <a:ext cx="10096500" cy="0"/>
          </a:xfrm>
          <a:prstGeom prst="straightConnector1">
            <a:avLst/>
          </a:prstGeom>
          <a:noFill/>
          <a:ln cap="flat" cmpd="sng" w="9525">
            <a:solidFill>
              <a:srgbClr val="4865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8" name="Google Shape;308;p14"/>
          <p:cNvSpPr/>
          <p:nvPr/>
        </p:nvSpPr>
        <p:spPr>
          <a:xfrm>
            <a:off x="2381250" y="5581650"/>
            <a:ext cx="7429500" cy="628650"/>
          </a:xfrm>
          <a:prstGeom prst="roundRect">
            <a:avLst>
              <a:gd fmla="val 12121" name="adj"/>
            </a:avLst>
          </a:prstGeom>
          <a:solidFill>
            <a:srgbClr val="D96C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4"/>
          <p:cNvSpPr/>
          <p:nvPr/>
        </p:nvSpPr>
        <p:spPr>
          <a:xfrm>
            <a:off x="2609850" y="5676900"/>
            <a:ext cx="69723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100" lIns="38100" spcFirstLastPara="1" rIns="38100" wrap="square" tIns="381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25">
                <a:solidFill>
                  <a:srgbClr val="FFFFFF"/>
                </a:solidFill>
                <a:latin typeface="Noto Sans JP"/>
                <a:ea typeface="Noto Sans JP"/>
                <a:cs typeface="Noto Sans JP"/>
                <a:sym typeface="Noto Sans JP"/>
              </a:rPr>
              <a:t>最初の一歩：過去案件を見ながら30分の事前診断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C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F8A89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609600" y="400050"/>
            <a:ext cx="10572750" cy="59055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l" marL="0" indent="0">
              <a:buNone/>
            </a:pPr>
            <a:r>
              <a:rPr lang="ja-JP" sz="30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1人12時間で、社員様が業務自動化ツールを作る</a:t>
            </a:r>
          </a:p>
        </p:txBody>
      </p:sp>
      <p:sp>
        <p:nvSpPr>
          <p:cNvPr id="13" name="Shape 13"/>
          <p:cNvSpPr/>
          <p:nvPr/>
        </p:nvSpPr>
        <p:spPr>
          <a:xfrm>
            <a:off x="609600" y="1066800"/>
            <a:ext cx="10858500" cy="10972"/>
          </a:xfrm>
          <a:prstGeom prst="rect">
            <a:avLst/>
          </a:prstGeom>
          <a:solidFill>
            <a:srgbClr val="C9D2D8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11239500" y="6343650"/>
            <a:ext cx="457200" cy="2667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r" marL="0" indent="0">
              <a:buNone/>
            </a:pPr>
            <a:r>
              <a:rPr lang="ja-JP" sz="1200" b="0">
                <a:solidFill>
                  <a:srgbClr val="60717E"/>
                </a:solidFill>
                <a:latin typeface="Noto Sans JP"/>
                <a:ea typeface="Noto Sans JP"/>
                <a:cs typeface="Noto Sans JP"/>
              </a:rPr>
              <a:t>09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612648" y="118872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l" marL="0" indent="0">
              <a:buNone/>
            </a:pPr>
            <a:r>
              <a:rPr lang="ja-JP" sz="1600" b="0">
                <a:solidFill>
                  <a:srgbClr val="60717E"/>
                </a:solidFill>
                <a:latin typeface="Noto Sans JP"/>
                <a:ea typeface="Noto Sans JP"/>
                <a:cs typeface="Noto Sans JP"/>
              </a:rPr>
              <a:t>助成金（人材開発支援助成金）を活用し、御社の積算業務に直結した実践研修として実施します</a:t>
            </a:r>
          </a:p>
        </p:txBody>
      </p:sp>
      <p:sp>
        <p:nvSpPr>
          <p:cNvPr id="16" name="Shape 16"/>
          <p:cNvSpPr/>
          <p:nvPr/>
        </p:nvSpPr>
        <p:spPr>
          <a:xfrm>
            <a:off x="612648" y="178308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2D8"/>
            </a:solidFill>
          </a:ln>
        </p:spPr>
      </p:sp>
      <p:sp>
        <p:nvSpPr>
          <p:cNvPr id="17" name="Text 17"/>
          <p:cNvSpPr txBox="1"/>
          <p:nvPr/>
        </p:nvSpPr>
        <p:spPr>
          <a:xfrm>
            <a:off x="841248" y="1874519"/>
            <a:ext cx="3017520" cy="7772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noAutofit/>
          </a:bodyPr>
          <a:lstStyle/>
          <a:p>
            <a:pPr algn="l" marL="0" indent="0">
              <a:buNone/>
            </a:pPr>
            <a:r>
              <a:rPr lang="ja-JP" sz="3600" b="1">
                <a:solidFill>
                  <a:srgbClr val="1F8A89"/>
                </a:solidFill>
                <a:latin typeface="Noto Sans JP"/>
                <a:ea typeface="Noto Sans JP"/>
                <a:cs typeface="Noto Sans JP"/>
              </a:rPr>
              <a:t>12時間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841248" y="265176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l" marL="0" indent="0">
              <a:buNone/>
            </a:pPr>
            <a:r>
              <a:rPr lang="ja-JP" sz="15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1人あたりの受講時間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841248" y="301752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l" marL="0" indent="0">
              <a:buNone/>
            </a:pPr>
            <a:r>
              <a:rPr lang="ja-JP" sz="1200" b="0">
                <a:solidFill>
                  <a:srgbClr val="60717E"/>
                </a:solidFill>
                <a:latin typeface="Noto Sans JP"/>
                <a:ea typeface="Noto Sans JP"/>
                <a:cs typeface="Noto Sans JP"/>
              </a:rPr>
              <a:t>全6回 × 各120分</a:t>
            </a:r>
          </a:p>
        </p:txBody>
      </p:sp>
      <p:sp>
        <p:nvSpPr>
          <p:cNvPr id="20" name="Shape 20"/>
          <p:cNvSpPr/>
          <p:nvPr/>
        </p:nvSpPr>
        <p:spPr>
          <a:xfrm>
            <a:off x="4361688" y="178308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2D8"/>
            </a:solidFill>
          </a:ln>
        </p:spPr>
      </p:sp>
      <p:sp>
        <p:nvSpPr>
          <p:cNvPr id="21" name="Text 21"/>
          <p:cNvSpPr txBox="1"/>
          <p:nvPr/>
        </p:nvSpPr>
        <p:spPr>
          <a:xfrm>
            <a:off x="4590288" y="1874519"/>
            <a:ext cx="3017520" cy="7772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noAutofit/>
          </a:bodyPr>
          <a:lstStyle/>
          <a:p>
            <a:pPr algn="l" marL="0" indent="0">
              <a:buNone/>
            </a:pPr>
            <a:r>
              <a:rPr lang="ja-JP" sz="3600" b="1">
                <a:solidFill>
                  <a:srgbClr val="1F8A89"/>
                </a:solidFill>
                <a:latin typeface="Noto Sans JP"/>
                <a:ea typeface="Noto Sans JP"/>
                <a:cs typeface="Noto Sans JP"/>
              </a:rPr>
              <a:t>30名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590288" y="265176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l" marL="0" indent="0">
              <a:buNone/>
            </a:pPr>
            <a:r>
              <a:rPr lang="ja-JP" sz="15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受講想定人数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4590288" y="301752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l" marL="0" indent="0">
              <a:buNone/>
            </a:pPr>
            <a:r>
              <a:rPr lang="ja-JP" sz="1200" b="0">
                <a:solidFill>
                  <a:srgbClr val="60717E"/>
                </a:solidFill>
                <a:latin typeface="Noto Sans JP"/>
                <a:ea typeface="Noto Sans JP"/>
                <a:cs typeface="Noto Sans JP"/>
              </a:rPr>
              <a:t>建築士・積算担当・管理者・実務担当</a:t>
            </a:r>
          </a:p>
        </p:txBody>
      </p:sp>
      <p:sp>
        <p:nvSpPr>
          <p:cNvPr id="24" name="Shape 24"/>
          <p:cNvSpPr/>
          <p:nvPr/>
        </p:nvSpPr>
        <p:spPr>
          <a:xfrm>
            <a:off x="8110727" y="1783080"/>
            <a:ext cx="347472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D2D8"/>
            </a:solidFill>
          </a:ln>
        </p:spPr>
      </p:sp>
      <p:sp>
        <p:nvSpPr>
          <p:cNvPr id="25" name="Text 25"/>
          <p:cNvSpPr txBox="1"/>
          <p:nvPr/>
        </p:nvSpPr>
        <p:spPr>
          <a:xfrm>
            <a:off x="8339327" y="1874519"/>
            <a:ext cx="3017520" cy="7772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noAutofit/>
          </a:bodyPr>
          <a:lstStyle/>
          <a:p>
            <a:pPr algn="l" marL="0" indent="0">
              <a:buNone/>
            </a:pPr>
            <a:r>
              <a:rPr lang="ja-JP" sz="3600" b="1">
                <a:solidFill>
                  <a:srgbClr val="D96C32"/>
                </a:solidFill>
                <a:latin typeface="Noto Sans JP"/>
                <a:ea typeface="Noto Sans JP"/>
                <a:cs typeface="Noto Sans JP"/>
              </a:rPr>
              <a:t>1人1ツール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8339327" y="265176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l" marL="0" indent="0">
              <a:buNone/>
            </a:pPr>
            <a:r>
              <a:rPr lang="ja-JP" sz="15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自分の業務の自動化ツール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8339327" y="301752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l" marL="0" indent="0">
              <a:buNone/>
            </a:pPr>
            <a:r>
              <a:rPr lang="ja-JP" sz="1200" b="0">
                <a:solidFill>
                  <a:srgbClr val="60717E"/>
                </a:solidFill>
                <a:latin typeface="Noto Sans JP"/>
                <a:ea typeface="Noto Sans JP"/>
                <a:cs typeface="Noto Sans JP"/>
              </a:rPr>
              <a:t>研修内で作成し、翌日から現場で使用</a:t>
            </a:r>
          </a:p>
        </p:txBody>
      </p:sp>
      <p:sp>
        <p:nvSpPr>
          <p:cNvPr id="28" name="Shape 28"/>
          <p:cNvSpPr/>
          <p:nvPr/>
        </p:nvSpPr>
        <p:spPr>
          <a:xfrm>
            <a:off x="612648" y="37947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EAF0F3"/>
          </a:solidFill>
          <a:ln>
            <a:noFill/>
          </a:ln>
        </p:spPr>
      </p:sp>
      <p:sp>
        <p:nvSpPr>
          <p:cNvPr id="29" name="Text 29"/>
          <p:cNvSpPr txBox="1"/>
          <p:nvPr/>
        </p:nvSpPr>
        <p:spPr>
          <a:xfrm>
            <a:off x="795528" y="388620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l" marL="0" indent="0">
              <a:buNone/>
            </a:pPr>
            <a:r>
              <a:rPr lang="ja-JP" sz="1400" b="1">
                <a:solidFill>
                  <a:srgbClr val="D96C32"/>
                </a:solidFill>
                <a:latin typeface="Noto Sans JP"/>
                <a:ea typeface="Noto Sans JP"/>
                <a:cs typeface="Noto Sans JP"/>
              </a:rPr>
              <a:t>01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795528" y="42062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l" marL="0" indent="0">
              <a:buNone/>
            </a:pPr>
            <a:r>
              <a:rPr lang="ja-JP" sz="15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業務の棚卸し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795528" y="457200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l" marL="0" indent="0">
              <a:buNone/>
            </a:pPr>
            <a:r>
              <a:rPr lang="ja-JP" sz="1200" b="0">
                <a:solidFill>
                  <a:srgbClr val="1F2D36"/>
                </a:solidFill>
                <a:latin typeface="Noto Sans JP"/>
                <a:ea typeface="Noto Sans JP"/>
                <a:cs typeface="Noto Sans JP"/>
              </a:rPr>
              <a:t>自分の作業から、繰り返し・転記・確認の多い業務を洗い出す</a:t>
            </a:r>
          </a:p>
        </p:txBody>
      </p:sp>
      <p:sp>
        <p:nvSpPr>
          <p:cNvPr id="32" name="Shape 32"/>
          <p:cNvSpPr/>
          <p:nvPr/>
        </p:nvSpPr>
        <p:spPr>
          <a:xfrm>
            <a:off x="3246120" y="4507992"/>
            <a:ext cx="155448" cy="182880"/>
          </a:xfrm>
          <a:prstGeom prst="rightArrow">
            <a:avLst/>
          </a:prstGeom>
          <a:solidFill>
            <a:srgbClr val="60717E"/>
          </a:solidFill>
          <a:ln>
            <a:noFill/>
          </a:ln>
        </p:spPr>
      </p:sp>
      <p:sp>
        <p:nvSpPr>
          <p:cNvPr id="33" name="Shape 33"/>
          <p:cNvSpPr/>
          <p:nvPr/>
        </p:nvSpPr>
        <p:spPr>
          <a:xfrm>
            <a:off x="3424428" y="37947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EAF0F3"/>
          </a:solidFill>
          <a:ln>
            <a:noFill/>
          </a:ln>
        </p:spPr>
      </p:sp>
      <p:sp>
        <p:nvSpPr>
          <p:cNvPr id="34" name="Text 34"/>
          <p:cNvSpPr txBox="1"/>
          <p:nvPr/>
        </p:nvSpPr>
        <p:spPr>
          <a:xfrm>
            <a:off x="3607308" y="388620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l" marL="0" indent="0">
              <a:buNone/>
            </a:pPr>
            <a:r>
              <a:rPr lang="ja-JP" sz="1400" b="1">
                <a:solidFill>
                  <a:srgbClr val="D96C32"/>
                </a:solidFill>
                <a:latin typeface="Noto Sans JP"/>
                <a:ea typeface="Noto Sans JP"/>
                <a:cs typeface="Noto Sans JP"/>
              </a:rPr>
              <a:t>02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3607308" y="42062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l" marL="0" indent="0">
              <a:buNone/>
            </a:pPr>
            <a:r>
              <a:rPr lang="ja-JP" sz="15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自動化対象を決める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3607308" y="457200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l" marL="0" indent="0">
              <a:buNone/>
            </a:pPr>
            <a:r>
              <a:rPr lang="ja-JP" sz="1200" b="0">
                <a:solidFill>
                  <a:srgbClr val="1F2D36"/>
                </a:solidFill>
                <a:latin typeface="Noto Sans JP"/>
                <a:ea typeface="Noto Sans JP"/>
                <a:cs typeface="Noto Sans JP"/>
              </a:rPr>
              <a:t>効果と安全性で優先順位を付け、1人1テーマに絞る</a:t>
            </a:r>
          </a:p>
        </p:txBody>
      </p:sp>
      <p:sp>
        <p:nvSpPr>
          <p:cNvPr id="37" name="Shape 37"/>
          <p:cNvSpPr/>
          <p:nvPr/>
        </p:nvSpPr>
        <p:spPr>
          <a:xfrm>
            <a:off x="6057900" y="4507992"/>
            <a:ext cx="155448" cy="182880"/>
          </a:xfrm>
          <a:prstGeom prst="rightArrow">
            <a:avLst/>
          </a:prstGeom>
          <a:solidFill>
            <a:srgbClr val="60717E"/>
          </a:solidFill>
          <a:ln>
            <a:noFill/>
          </a:ln>
        </p:spPr>
      </p:sp>
      <p:sp>
        <p:nvSpPr>
          <p:cNvPr id="38" name="Shape 38"/>
          <p:cNvSpPr/>
          <p:nvPr/>
        </p:nvSpPr>
        <p:spPr>
          <a:xfrm>
            <a:off x="6236208" y="37947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EAF0F3"/>
          </a:solidFill>
          <a:ln>
            <a:noFill/>
          </a:ln>
        </p:spPr>
      </p:sp>
      <p:sp>
        <p:nvSpPr>
          <p:cNvPr id="39" name="Text 39"/>
          <p:cNvSpPr txBox="1"/>
          <p:nvPr/>
        </p:nvSpPr>
        <p:spPr>
          <a:xfrm>
            <a:off x="6419088" y="388620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l" marL="0" indent="0">
              <a:buNone/>
            </a:pPr>
            <a:r>
              <a:rPr lang="ja-JP" sz="1400" b="1">
                <a:solidFill>
                  <a:srgbClr val="D96C32"/>
                </a:solidFill>
                <a:latin typeface="Noto Sans JP"/>
                <a:ea typeface="Noto Sans JP"/>
                <a:cs typeface="Noto Sans JP"/>
              </a:rPr>
              <a:t>03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6419088" y="42062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l" marL="0" indent="0">
              <a:buNone/>
            </a:pPr>
            <a:r>
              <a:rPr lang="ja-JP" sz="15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ツールを作る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6419088" y="457200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l" marL="0" indent="0">
              <a:buNone/>
            </a:pPr>
            <a:r>
              <a:rPr lang="ja-JP" sz="1200" b="0">
                <a:solidFill>
                  <a:srgbClr val="1F2D36"/>
                </a:solidFill>
                <a:latin typeface="Noto Sans JP"/>
                <a:ea typeface="Noto Sans JP"/>
                <a:cs typeface="Noto Sans JP"/>
              </a:rPr>
              <a:t>講師の伴走のもと、AIと計算ルールで自動化ツールを作成</a:t>
            </a:r>
          </a:p>
        </p:txBody>
      </p:sp>
      <p:sp>
        <p:nvSpPr>
          <p:cNvPr id="42" name="Shape 42"/>
          <p:cNvSpPr/>
          <p:nvPr/>
        </p:nvSpPr>
        <p:spPr>
          <a:xfrm>
            <a:off x="8869680" y="4507992"/>
            <a:ext cx="155448" cy="182880"/>
          </a:xfrm>
          <a:prstGeom prst="rightArrow">
            <a:avLst/>
          </a:prstGeom>
          <a:solidFill>
            <a:srgbClr val="60717E"/>
          </a:solidFill>
          <a:ln>
            <a:noFill/>
          </a:ln>
        </p:spPr>
      </p:sp>
      <p:sp>
        <p:nvSpPr>
          <p:cNvPr id="43" name="Shape 43"/>
          <p:cNvSpPr/>
          <p:nvPr/>
        </p:nvSpPr>
        <p:spPr>
          <a:xfrm>
            <a:off x="9047988" y="3794760"/>
            <a:ext cx="2606040" cy="1600200"/>
          </a:xfrm>
          <a:prstGeom prst="roundRect">
            <a:avLst>
              <a:gd name="adj" fmla="val 6000"/>
            </a:avLst>
          </a:prstGeom>
          <a:solidFill>
            <a:srgbClr val="EAF0F3"/>
          </a:solidFill>
          <a:ln>
            <a:noFill/>
          </a:ln>
        </p:spPr>
      </p:sp>
      <p:sp>
        <p:nvSpPr>
          <p:cNvPr id="44" name="Text 44"/>
          <p:cNvSpPr txBox="1"/>
          <p:nvPr/>
        </p:nvSpPr>
        <p:spPr>
          <a:xfrm>
            <a:off x="9230868" y="3886200"/>
            <a:ext cx="54864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l" marL="0" indent="0">
              <a:buNone/>
            </a:pPr>
            <a:r>
              <a:rPr lang="ja-JP" sz="1400" b="1">
                <a:solidFill>
                  <a:srgbClr val="D96C32"/>
                </a:solidFill>
                <a:latin typeface="Noto Sans JP"/>
                <a:ea typeface="Noto Sans JP"/>
                <a:cs typeface="Noto Sans JP"/>
              </a:rPr>
              <a:t>04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9230868" y="42062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l" marL="0" indent="0">
              <a:buNone/>
            </a:pPr>
            <a:r>
              <a:rPr lang="ja-JP" sz="15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現場で使い、測る</a:t>
            </a:r>
          </a:p>
        </p:txBody>
      </p:sp>
      <p:sp>
        <p:nvSpPr>
          <p:cNvPr id="46" name="Text 46"/>
          <p:cNvSpPr txBox="1"/>
          <p:nvPr/>
        </p:nvSpPr>
        <p:spPr>
          <a:xfrm>
            <a:off x="9230868" y="4572000"/>
            <a:ext cx="2286000" cy="7772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l" marL="0" indent="0">
              <a:buNone/>
            </a:pPr>
            <a:r>
              <a:rPr lang="ja-JP" sz="1200" b="0">
                <a:solidFill>
                  <a:srgbClr val="1F2D36"/>
                </a:solidFill>
                <a:latin typeface="Noto Sans JP"/>
                <a:ea typeface="Noto Sans JP"/>
                <a:cs typeface="Noto Sans JP"/>
              </a:rPr>
              <a:t>作業時間・修正件数を従来と比較し、社内に共有</a:t>
            </a:r>
          </a:p>
        </p:txBody>
      </p:sp>
      <p:sp>
        <p:nvSpPr>
          <p:cNvPr id="47" name="Text 47"/>
          <p:cNvSpPr txBox="1"/>
          <p:nvPr/>
        </p:nvSpPr>
        <p:spPr>
          <a:xfrm>
            <a:off x="612648" y="5623560"/>
            <a:ext cx="10927080" cy="457200"/>
          </a:xfrm>
          <a:prstGeom prst="roundRect">
            <a:avLst>
              <a:gd name="adj" fmla="val 10000"/>
            </a:avLst>
          </a:prstGeom>
          <a:solidFill>
            <a:srgbClr val="102A43"/>
          </a:solidFill>
          <a:ln>
            <a:noFill/>
          </a:ln>
        </p:spPr>
        <p:txBody>
          <a:bodyPr wrap="square" lIns="45720" rIns="45720" tIns="27432" bIns="27432" anchor="ctr">
            <a:noAutofit/>
          </a:bodyPr>
          <a:lstStyle/>
          <a:p>
            <a:pPr algn="ctr" marL="0" indent="0">
              <a:buNone/>
            </a:pPr>
            <a:r>
              <a:rPr lang="ja-JP"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研修の成果は「受講した」ではなく、社員様一人ひとりが作った業務自動化ツールとして残ります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C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F8A89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609600" y="400050"/>
            <a:ext cx="10572750" cy="59055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l" marL="0" indent="0">
              <a:buNone/>
            </a:pPr>
            <a:r>
              <a:rPr lang="ja-JP" sz="30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助成金活用時の実質負担額（30名受講の場合）</a:t>
            </a:r>
          </a:p>
        </p:txBody>
      </p:sp>
      <p:sp>
        <p:nvSpPr>
          <p:cNvPr id="13" name="Shape 13"/>
          <p:cNvSpPr/>
          <p:nvPr/>
        </p:nvSpPr>
        <p:spPr>
          <a:xfrm>
            <a:off x="609600" y="1066800"/>
            <a:ext cx="10858500" cy="10972"/>
          </a:xfrm>
          <a:prstGeom prst="rect">
            <a:avLst/>
          </a:prstGeom>
          <a:solidFill>
            <a:srgbClr val="C9D2D8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11239500" y="6343650"/>
            <a:ext cx="457200" cy="2667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r" marL="0" indent="0">
              <a:buNone/>
            </a:pPr>
            <a:r>
              <a:rPr lang="ja-JP" sz="1200" b="0">
                <a:solidFill>
                  <a:srgbClr val="60717E"/>
                </a:solidFill>
                <a:latin typeface="Noto Sans JP"/>
                <a:ea typeface="Noto Sans JP"/>
                <a:cs typeface="Noto Sans JP"/>
              </a:rPr>
              <a:t>13</a:t>
            </a:r>
          </a:p>
        </p:txBody>
      </p:sp>
      <p:sp>
        <p:nvSpPr>
          <p:cNvPr id="15" name="Shape 15"/>
          <p:cNvSpPr/>
          <p:nvPr/>
        </p:nvSpPr>
        <p:spPr>
          <a:xfrm>
            <a:off x="612648" y="1234440"/>
            <a:ext cx="3474720" cy="1600200"/>
          </a:xfrm>
          <a:prstGeom prst="roundRect">
            <a:avLst>
              <a:gd name="adj" fmla="val 6000"/>
            </a:avLst>
          </a:prstGeom>
          <a:solidFill>
            <a:srgbClr val="102A43"/>
          </a:solidFill>
          <a:ln>
            <a:noFill/>
          </a:ln>
        </p:spPr>
      </p:sp>
      <p:sp>
        <p:nvSpPr>
          <p:cNvPr id="16" name="Text 16"/>
          <p:cNvSpPr txBox="1"/>
          <p:nvPr/>
        </p:nvSpPr>
        <p:spPr>
          <a:xfrm>
            <a:off x="841248" y="132588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l" marL="0" indent="0">
              <a:buNone/>
            </a:pPr>
            <a:r>
              <a:rPr lang="ja-JP" sz="14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研修費用 総額</a:t>
            </a:r>
          </a:p>
        </p:txBody>
      </p:sp>
      <p:sp>
        <p:nvSpPr>
          <p:cNvPr id="17" name="Text 17"/>
          <p:cNvSpPr txBox="1"/>
          <p:nvPr/>
        </p:nvSpPr>
        <p:spPr>
          <a:xfrm>
            <a:off x="841248" y="169164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noAutofit/>
          </a:bodyPr>
          <a:lstStyle/>
          <a:p>
            <a:pPr algn="l" marL="0" indent="0">
              <a:buNone/>
            </a:pPr>
            <a:r>
              <a:rPr lang="ja-JP" sz="36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1,200万円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841248" y="237744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l" marL="0" indent="0">
              <a:buNone/>
            </a:pPr>
            <a:r>
              <a:rPr lang="ja-JP" sz="1200" b="0">
                <a:solidFill>
                  <a:srgbClr val="C9D2D8"/>
                </a:solidFill>
                <a:latin typeface="Noto Sans JP"/>
                <a:ea typeface="Noto Sans JP"/>
                <a:cs typeface="Noto Sans JP"/>
              </a:rPr>
              <a:t>40万円（税込）× 30名</a:t>
            </a:r>
          </a:p>
        </p:txBody>
      </p:sp>
      <p:sp>
        <p:nvSpPr>
          <p:cNvPr id="19" name="Shape 19"/>
          <p:cNvSpPr/>
          <p:nvPr/>
        </p:nvSpPr>
        <p:spPr>
          <a:xfrm>
            <a:off x="4361688" y="1234440"/>
            <a:ext cx="3474720" cy="1600200"/>
          </a:xfrm>
          <a:prstGeom prst="roundRect">
            <a:avLst>
              <a:gd name="adj" fmla="val 6000"/>
            </a:avLst>
          </a:prstGeom>
          <a:solidFill>
            <a:srgbClr val="1F8A89"/>
          </a:solidFill>
          <a:ln>
            <a:noFill/>
          </a:ln>
        </p:spPr>
      </p:sp>
      <p:sp>
        <p:nvSpPr>
          <p:cNvPr id="20" name="Text 20"/>
          <p:cNvSpPr txBox="1"/>
          <p:nvPr/>
        </p:nvSpPr>
        <p:spPr>
          <a:xfrm>
            <a:off x="4590288" y="132588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l" marL="0" indent="0">
              <a:buNone/>
            </a:pPr>
            <a:r>
              <a:rPr lang="ja-JP" sz="14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助成金 見込額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4590288" y="169164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noAutofit/>
          </a:bodyPr>
          <a:lstStyle/>
          <a:p>
            <a:pPr algn="l" marL="0" indent="0">
              <a:buNone/>
            </a:pPr>
            <a:r>
              <a:rPr lang="ja-JP" sz="36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936万円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4590288" y="237744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l" marL="0" indent="0">
              <a:buNone/>
            </a:pPr>
            <a:r>
              <a:rPr lang="ja-JP" sz="1200" b="0">
                <a:solidFill>
                  <a:srgbClr val="DFF1EF"/>
                </a:solidFill>
                <a:latin typeface="Noto Sans JP"/>
                <a:ea typeface="Noto Sans JP"/>
                <a:cs typeface="Noto Sans JP"/>
              </a:rPr>
              <a:t>経費助成 900万円 ＋ 賃金助成 36万円</a:t>
            </a:r>
          </a:p>
        </p:txBody>
      </p:sp>
      <p:sp>
        <p:nvSpPr>
          <p:cNvPr id="23" name="Shape 23"/>
          <p:cNvSpPr/>
          <p:nvPr/>
        </p:nvSpPr>
        <p:spPr>
          <a:xfrm>
            <a:off x="8110727" y="1234440"/>
            <a:ext cx="3474720" cy="1600200"/>
          </a:xfrm>
          <a:prstGeom prst="roundRect">
            <a:avLst>
              <a:gd name="adj" fmla="val 6000"/>
            </a:avLst>
          </a:prstGeom>
          <a:solidFill>
            <a:srgbClr val="D96C32"/>
          </a:solidFill>
          <a:ln>
            <a:noFill/>
          </a:ln>
        </p:spPr>
      </p:sp>
      <p:sp>
        <p:nvSpPr>
          <p:cNvPr id="24" name="Text 24"/>
          <p:cNvSpPr txBox="1"/>
          <p:nvPr/>
        </p:nvSpPr>
        <p:spPr>
          <a:xfrm>
            <a:off x="8339327" y="132588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l" marL="0" indent="0">
              <a:buNone/>
            </a:pPr>
            <a:r>
              <a:rPr lang="ja-JP" sz="14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御社の実質負担</a:t>
            </a:r>
          </a:p>
        </p:txBody>
      </p:sp>
      <p:sp>
        <p:nvSpPr>
          <p:cNvPr id="25" name="Text 25"/>
          <p:cNvSpPr txBox="1"/>
          <p:nvPr/>
        </p:nvSpPr>
        <p:spPr>
          <a:xfrm>
            <a:off x="8339327" y="1691640"/>
            <a:ext cx="301752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noAutofit/>
          </a:bodyPr>
          <a:lstStyle/>
          <a:p>
            <a:pPr algn="l" marL="0" indent="0">
              <a:buNone/>
            </a:pPr>
            <a:r>
              <a:rPr lang="ja-JP" sz="36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264万円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8339327" y="2377440"/>
            <a:ext cx="30175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l" marL="0" indent="0">
              <a:buNone/>
            </a:pPr>
            <a:r>
              <a:rPr lang="ja-JP" sz="120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総額の約22%（1人あたり 8.8万円）</a:t>
            </a:r>
          </a:p>
        </p:txBody>
      </p:sp>
      <p:sp>
        <p:nvSpPr>
          <p:cNvPr id="27" name="Shape 27"/>
          <p:cNvSpPr/>
          <p:nvPr/>
        </p:nvSpPr>
        <p:spPr>
          <a:xfrm>
            <a:off x="612648" y="3063240"/>
            <a:ext cx="10927080" cy="384048"/>
          </a:xfrm>
          <a:prstGeom prst="rect">
            <a:avLst/>
          </a:prstGeom>
          <a:solidFill>
            <a:srgbClr val="102A43"/>
          </a:solidFill>
          <a:ln>
            <a:noFill/>
          </a:ln>
        </p:spPr>
      </p:sp>
      <p:sp>
        <p:nvSpPr>
          <p:cNvPr id="28" name="Text 28"/>
          <p:cNvSpPr txBox="1"/>
          <p:nvPr/>
        </p:nvSpPr>
        <p:spPr>
          <a:xfrm>
            <a:off x="704088" y="3063240"/>
            <a:ext cx="3136391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noAutofit/>
          </a:bodyPr>
          <a:lstStyle/>
          <a:p>
            <a:pPr algn="l" marL="0" indent="0">
              <a:buNone/>
            </a:pPr>
            <a:r>
              <a:rPr lang="ja-JP" sz="13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項目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4023359" y="3063240"/>
            <a:ext cx="1691639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noAutofit/>
          </a:bodyPr>
          <a:lstStyle/>
          <a:p>
            <a:pPr algn="r" marL="0" indent="0">
              <a:buNone/>
            </a:pPr>
            <a:r>
              <a:rPr lang="ja-JP" sz="13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1人あたり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5897879" y="3063240"/>
            <a:ext cx="1691639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noAutofit/>
          </a:bodyPr>
          <a:lstStyle/>
          <a:p>
            <a:pPr algn="r" marL="0" indent="0">
              <a:buNone/>
            </a:pPr>
            <a:r>
              <a:rPr lang="ja-JP" sz="13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30名合計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7772400" y="3063240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noAutofit/>
          </a:bodyPr>
          <a:lstStyle/>
          <a:p>
            <a:pPr algn="l" marL="0" indent="0">
              <a:buNone/>
            </a:pPr>
            <a:r>
              <a:rPr lang="ja-JP" sz="13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算出方法</a:t>
            </a:r>
          </a:p>
        </p:txBody>
      </p:sp>
      <p:sp>
        <p:nvSpPr>
          <p:cNvPr id="32" name="Shape 32"/>
          <p:cNvSpPr/>
          <p:nvPr/>
        </p:nvSpPr>
        <p:spPr>
          <a:xfrm>
            <a:off x="612648" y="3447288"/>
            <a:ext cx="109270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704088" y="3447288"/>
            <a:ext cx="3136391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noAutofit/>
          </a:bodyPr>
          <a:lstStyle/>
          <a:p>
            <a:pPr algn="l" marL="0" indent="0">
              <a:buNone/>
            </a:pPr>
            <a:r>
              <a:rPr lang="ja-JP" sz="1300" b="0">
                <a:solidFill>
                  <a:srgbClr val="1F2D36"/>
                </a:solidFill>
                <a:latin typeface="Noto Sans JP"/>
                <a:ea typeface="Noto Sans JP"/>
                <a:cs typeface="Noto Sans JP"/>
              </a:rPr>
              <a:t>研修受講費用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4023359" y="3447288"/>
            <a:ext cx="1691639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noAutofit/>
          </a:bodyPr>
          <a:lstStyle/>
          <a:p>
            <a:pPr algn="r" marL="0" indent="0">
              <a:buNone/>
            </a:pPr>
            <a:r>
              <a:rPr lang="ja-JP" sz="1300" b="0">
                <a:solidFill>
                  <a:srgbClr val="1F2D36"/>
                </a:solidFill>
                <a:latin typeface="Noto Sans JP"/>
                <a:ea typeface="Noto Sans JP"/>
                <a:cs typeface="Noto Sans JP"/>
              </a:rPr>
              <a:t>400,000円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5897879" y="3447288"/>
            <a:ext cx="1691639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noAutofit/>
          </a:bodyPr>
          <a:lstStyle/>
          <a:p>
            <a:pPr algn="r" marL="0" indent="0">
              <a:buNone/>
            </a:pPr>
            <a:r>
              <a:rPr lang="ja-JP" sz="1300" b="0">
                <a:solidFill>
                  <a:srgbClr val="1F2D36"/>
                </a:solidFill>
                <a:latin typeface="Noto Sans JP"/>
                <a:ea typeface="Noto Sans JP"/>
                <a:cs typeface="Noto Sans JP"/>
              </a:rPr>
              <a:t>12,000,000円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7772400" y="3447288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noAutofit/>
          </a:bodyPr>
          <a:lstStyle/>
          <a:p>
            <a:pPr algn="l" marL="0" indent="0">
              <a:buNone/>
            </a:pPr>
            <a:r>
              <a:rPr lang="ja-JP" sz="1300" b="0">
                <a:solidFill>
                  <a:srgbClr val="60717E"/>
                </a:solidFill>
                <a:latin typeface="Noto Sans JP"/>
                <a:ea typeface="Noto Sans JP"/>
                <a:cs typeface="Noto Sans JP"/>
              </a:rPr>
              <a:t>1人12時間・税込</a:t>
            </a:r>
          </a:p>
        </p:txBody>
      </p:sp>
      <p:sp>
        <p:nvSpPr>
          <p:cNvPr id="37" name="Shape 37"/>
          <p:cNvSpPr/>
          <p:nvPr/>
        </p:nvSpPr>
        <p:spPr>
          <a:xfrm>
            <a:off x="612648" y="3831336"/>
            <a:ext cx="10927080" cy="384048"/>
          </a:xfrm>
          <a:prstGeom prst="rect">
            <a:avLst/>
          </a:prstGeom>
          <a:solidFill>
            <a:srgbClr val="EAF0F3"/>
          </a:solidFill>
          <a:ln>
            <a:noFill/>
          </a:ln>
        </p:spPr>
      </p:sp>
      <p:sp>
        <p:nvSpPr>
          <p:cNvPr id="38" name="Text 38"/>
          <p:cNvSpPr txBox="1"/>
          <p:nvPr/>
        </p:nvSpPr>
        <p:spPr>
          <a:xfrm>
            <a:off x="704088" y="3831336"/>
            <a:ext cx="3136391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noAutofit/>
          </a:bodyPr>
          <a:lstStyle/>
          <a:p>
            <a:pPr algn="l" marL="0" indent="0">
              <a:buNone/>
            </a:pPr>
            <a:r>
              <a:rPr lang="ja-JP" sz="1300" b="0">
                <a:solidFill>
                  <a:srgbClr val="1F2D36"/>
                </a:solidFill>
                <a:latin typeface="Noto Sans JP"/>
                <a:ea typeface="Noto Sans JP"/>
                <a:cs typeface="Noto Sans JP"/>
              </a:rPr>
              <a:t>① 経費助成（75%）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4023359" y="3831336"/>
            <a:ext cx="1691639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noAutofit/>
          </a:bodyPr>
          <a:lstStyle/>
          <a:p>
            <a:pPr algn="r" marL="0" indent="0">
              <a:buNone/>
            </a:pPr>
            <a:r>
              <a:rPr lang="ja-JP" sz="1300" b="0">
                <a:solidFill>
                  <a:srgbClr val="1F2D36"/>
                </a:solidFill>
                <a:latin typeface="Noto Sans JP"/>
                <a:ea typeface="Noto Sans JP"/>
                <a:cs typeface="Noto Sans JP"/>
              </a:rPr>
              <a:t>▲300,000円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5897879" y="3831336"/>
            <a:ext cx="1691639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noAutofit/>
          </a:bodyPr>
          <a:lstStyle/>
          <a:p>
            <a:pPr algn="r" marL="0" indent="0">
              <a:buNone/>
            </a:pPr>
            <a:r>
              <a:rPr lang="ja-JP" sz="1300" b="0">
                <a:solidFill>
                  <a:srgbClr val="1F2D36"/>
                </a:solidFill>
                <a:latin typeface="Noto Sans JP"/>
                <a:ea typeface="Noto Sans JP"/>
                <a:cs typeface="Noto Sans JP"/>
              </a:rPr>
              <a:t>▲9,000,000円</a:t>
            </a:r>
          </a:p>
        </p:txBody>
      </p:sp>
      <p:sp>
        <p:nvSpPr>
          <p:cNvPr id="41" name="Text 41"/>
          <p:cNvSpPr txBox="1"/>
          <p:nvPr/>
        </p:nvSpPr>
        <p:spPr>
          <a:xfrm>
            <a:off x="7772400" y="3831336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noAutofit/>
          </a:bodyPr>
          <a:lstStyle/>
          <a:p>
            <a:pPr algn="l" marL="0" indent="0">
              <a:buNone/>
            </a:pPr>
            <a:r>
              <a:rPr lang="ja-JP" sz="1300" b="0">
                <a:solidFill>
                  <a:srgbClr val="60717E"/>
                </a:solidFill>
                <a:latin typeface="Noto Sans JP"/>
                <a:ea typeface="Noto Sans JP"/>
                <a:cs typeface="Noto Sans JP"/>
              </a:rPr>
              <a:t>40万円×75%（上限30万円/人）</a:t>
            </a:r>
          </a:p>
        </p:txBody>
      </p:sp>
      <p:sp>
        <p:nvSpPr>
          <p:cNvPr id="42" name="Shape 42"/>
          <p:cNvSpPr/>
          <p:nvPr/>
        </p:nvSpPr>
        <p:spPr>
          <a:xfrm>
            <a:off x="612648" y="4215384"/>
            <a:ext cx="10927080" cy="38404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3" name="Text 43"/>
          <p:cNvSpPr txBox="1"/>
          <p:nvPr/>
        </p:nvSpPr>
        <p:spPr>
          <a:xfrm>
            <a:off x="704088" y="4215384"/>
            <a:ext cx="3136391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noAutofit/>
          </a:bodyPr>
          <a:lstStyle/>
          <a:p>
            <a:pPr algn="l" marL="0" indent="0">
              <a:buNone/>
            </a:pPr>
            <a:r>
              <a:rPr lang="ja-JP" sz="1300" b="0">
                <a:solidFill>
                  <a:srgbClr val="1F2D36"/>
                </a:solidFill>
                <a:latin typeface="Noto Sans JP"/>
                <a:ea typeface="Noto Sans JP"/>
                <a:cs typeface="Noto Sans JP"/>
              </a:rPr>
              <a:t>② 賃金助成</a:t>
            </a:r>
          </a:p>
        </p:txBody>
      </p:sp>
      <p:sp>
        <p:nvSpPr>
          <p:cNvPr id="44" name="Text 44"/>
          <p:cNvSpPr txBox="1"/>
          <p:nvPr/>
        </p:nvSpPr>
        <p:spPr>
          <a:xfrm>
            <a:off x="4023359" y="4215384"/>
            <a:ext cx="1691639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noAutofit/>
          </a:bodyPr>
          <a:lstStyle/>
          <a:p>
            <a:pPr algn="r" marL="0" indent="0">
              <a:buNone/>
            </a:pPr>
            <a:r>
              <a:rPr lang="ja-JP" sz="1300" b="0">
                <a:solidFill>
                  <a:srgbClr val="1F2D36"/>
                </a:solidFill>
                <a:latin typeface="Noto Sans JP"/>
                <a:ea typeface="Noto Sans JP"/>
                <a:cs typeface="Noto Sans JP"/>
              </a:rPr>
              <a:t>▲12,000円</a:t>
            </a:r>
          </a:p>
        </p:txBody>
      </p:sp>
      <p:sp>
        <p:nvSpPr>
          <p:cNvPr id="45" name="Text 45"/>
          <p:cNvSpPr txBox="1"/>
          <p:nvPr/>
        </p:nvSpPr>
        <p:spPr>
          <a:xfrm>
            <a:off x="5897879" y="4215384"/>
            <a:ext cx="1691639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noAutofit/>
          </a:bodyPr>
          <a:lstStyle/>
          <a:p>
            <a:pPr algn="r" marL="0" indent="0">
              <a:buNone/>
            </a:pPr>
            <a:r>
              <a:rPr lang="ja-JP" sz="1300" b="0">
                <a:solidFill>
                  <a:srgbClr val="1F2D36"/>
                </a:solidFill>
                <a:latin typeface="Noto Sans JP"/>
                <a:ea typeface="Noto Sans JP"/>
                <a:cs typeface="Noto Sans JP"/>
              </a:rPr>
              <a:t>▲360,000円</a:t>
            </a:r>
          </a:p>
        </p:txBody>
      </p:sp>
      <p:sp>
        <p:nvSpPr>
          <p:cNvPr id="46" name="Text 46"/>
          <p:cNvSpPr txBox="1"/>
          <p:nvPr/>
        </p:nvSpPr>
        <p:spPr>
          <a:xfrm>
            <a:off x="7772400" y="4215384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noAutofit/>
          </a:bodyPr>
          <a:lstStyle/>
          <a:p>
            <a:pPr algn="l" marL="0" indent="0">
              <a:buNone/>
            </a:pPr>
            <a:r>
              <a:rPr lang="ja-JP" sz="1300" b="0">
                <a:solidFill>
                  <a:srgbClr val="60717E"/>
                </a:solidFill>
                <a:latin typeface="Noto Sans JP"/>
                <a:ea typeface="Noto Sans JP"/>
                <a:cs typeface="Noto Sans JP"/>
              </a:rPr>
              <a:t>1,000円 × 12時間</a:t>
            </a:r>
          </a:p>
        </p:txBody>
      </p:sp>
      <p:sp>
        <p:nvSpPr>
          <p:cNvPr id="47" name="Shape 47"/>
          <p:cNvSpPr/>
          <p:nvPr/>
        </p:nvSpPr>
        <p:spPr>
          <a:xfrm>
            <a:off x="612648" y="4599432"/>
            <a:ext cx="10927080" cy="384048"/>
          </a:xfrm>
          <a:prstGeom prst="rect">
            <a:avLst/>
          </a:prstGeom>
          <a:solidFill>
            <a:srgbClr val="F8E5DA"/>
          </a:solidFill>
          <a:ln>
            <a:noFill/>
          </a:ln>
        </p:spPr>
      </p:sp>
      <p:sp>
        <p:nvSpPr>
          <p:cNvPr id="48" name="Text 48"/>
          <p:cNvSpPr txBox="1"/>
          <p:nvPr/>
        </p:nvSpPr>
        <p:spPr>
          <a:xfrm>
            <a:off x="704088" y="4599432"/>
            <a:ext cx="3136391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noAutofit/>
          </a:bodyPr>
          <a:lstStyle/>
          <a:p>
            <a:pPr algn="l" marL="0" indent="0">
              <a:buNone/>
            </a:pPr>
            <a:r>
              <a:rPr lang="ja-JP" sz="1300" b="1">
                <a:solidFill>
                  <a:srgbClr val="D96C32"/>
                </a:solidFill>
                <a:latin typeface="Noto Sans JP"/>
                <a:ea typeface="Noto Sans JP"/>
                <a:cs typeface="Noto Sans JP"/>
              </a:rPr>
              <a:t>実質負担額</a:t>
            </a:r>
          </a:p>
        </p:txBody>
      </p:sp>
      <p:sp>
        <p:nvSpPr>
          <p:cNvPr id="49" name="Text 49"/>
          <p:cNvSpPr txBox="1"/>
          <p:nvPr/>
        </p:nvSpPr>
        <p:spPr>
          <a:xfrm>
            <a:off x="4023359" y="4599432"/>
            <a:ext cx="1691639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noAutofit/>
          </a:bodyPr>
          <a:lstStyle/>
          <a:p>
            <a:pPr algn="r" marL="0" indent="0">
              <a:buNone/>
            </a:pPr>
            <a:r>
              <a:rPr lang="ja-JP" sz="1300" b="1">
                <a:solidFill>
                  <a:srgbClr val="D96C32"/>
                </a:solidFill>
                <a:latin typeface="Noto Sans JP"/>
                <a:ea typeface="Noto Sans JP"/>
                <a:cs typeface="Noto Sans JP"/>
              </a:rPr>
              <a:t>88,000円</a:t>
            </a:r>
          </a:p>
        </p:txBody>
      </p:sp>
      <p:sp>
        <p:nvSpPr>
          <p:cNvPr id="50" name="Text 50"/>
          <p:cNvSpPr txBox="1"/>
          <p:nvPr/>
        </p:nvSpPr>
        <p:spPr>
          <a:xfrm>
            <a:off x="5897879" y="4599432"/>
            <a:ext cx="1691639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noAutofit/>
          </a:bodyPr>
          <a:lstStyle/>
          <a:p>
            <a:pPr algn="r" marL="0" indent="0">
              <a:buNone/>
            </a:pPr>
            <a:r>
              <a:rPr lang="ja-JP" sz="1300" b="1">
                <a:solidFill>
                  <a:srgbClr val="D96C32"/>
                </a:solidFill>
                <a:latin typeface="Noto Sans JP"/>
                <a:ea typeface="Noto Sans JP"/>
                <a:cs typeface="Noto Sans JP"/>
              </a:rPr>
              <a:t>2,640,000円</a:t>
            </a:r>
          </a:p>
        </p:txBody>
      </p:sp>
      <p:sp>
        <p:nvSpPr>
          <p:cNvPr id="51" name="Text 51"/>
          <p:cNvSpPr txBox="1"/>
          <p:nvPr/>
        </p:nvSpPr>
        <p:spPr>
          <a:xfrm>
            <a:off x="7772400" y="4599432"/>
            <a:ext cx="3657600" cy="384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noAutofit/>
          </a:bodyPr>
          <a:lstStyle/>
          <a:p>
            <a:pPr algn="l" marL="0" indent="0">
              <a:buNone/>
            </a:pPr>
            <a:r>
              <a:rPr lang="ja-JP" sz="1300" b="1">
                <a:solidFill>
                  <a:srgbClr val="D96C32"/>
                </a:solidFill>
                <a:latin typeface="Noto Sans JP"/>
                <a:ea typeface="Noto Sans JP"/>
                <a:cs typeface="Noto Sans JP"/>
              </a:rPr>
              <a:t>負担率 約22%</a:t>
            </a:r>
          </a:p>
        </p:txBody>
      </p:sp>
      <p:sp>
        <p:nvSpPr>
          <p:cNvPr id="52" name="Text 52"/>
          <p:cNvSpPr txBox="1"/>
          <p:nvPr/>
        </p:nvSpPr>
        <p:spPr>
          <a:xfrm>
            <a:off x="612648" y="5074920"/>
            <a:ext cx="10927080" cy="685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l" marL="0" indent="0">
              <a:buNone/>
            </a:pPr>
            <a:r>
              <a:rPr lang="ja-JP" sz="1100" b="0">
                <a:solidFill>
                  <a:srgbClr val="60717E"/>
                </a:solidFill>
                <a:latin typeface="Noto Sans JP"/>
                <a:ea typeface="Noto Sans JP"/>
                <a:cs typeface="Noto Sans JP"/>
              </a:rPr>
              <a:t>前提：人材開発支援助成金「事業展開等リスキリング支援コース」・中小企業の助成率（経費75%、賃金1,000円/時）で試算。</a:t>
            </a:r>
          </a:p>
          <a:p>
            <a:pPr algn="l" marL="0" indent="0">
              <a:buNone/>
            </a:pPr>
            <a:r>
              <a:rPr lang="ja-JP" sz="1100" b="0">
                <a:solidFill>
                  <a:srgbClr val="60717E"/>
                </a:solidFill>
                <a:latin typeface="Noto Sans JP"/>
                <a:ea typeface="Noto Sans JP"/>
                <a:cs typeface="Noto Sans JP"/>
              </a:rPr>
              <a:t>大企業扱いの場合は経費60%・上限20万円/人、賃金500円/時となり、実質負担は1人19.4万円（約49%）。受講料の消費税を対象経費外とする場合、</a:t>
            </a:r>
          </a:p>
          <a:p>
            <a:pPr algn="l" marL="0" indent="0">
              <a:buNone/>
            </a:pPr>
            <a:r>
              <a:rPr lang="ja-JP" sz="1100" b="0">
                <a:solidFill>
                  <a:srgbClr val="60717E"/>
                </a:solidFill>
                <a:latin typeface="Noto Sans JP"/>
                <a:ea typeface="Noto Sans JP"/>
                <a:cs typeface="Noto Sans JP"/>
              </a:rPr>
              <a:t>1人あたり負担は約11.5万円（約29%）。金額は見込みであり、支給額は労働局の審査で確定します。</a:t>
            </a:r>
          </a:p>
        </p:txBody>
      </p:sp>
      <p:sp>
        <p:nvSpPr>
          <p:cNvPr id="53" name="Text 53"/>
          <p:cNvSpPr txBox="1"/>
          <p:nvPr/>
        </p:nvSpPr>
        <p:spPr>
          <a:xfrm>
            <a:off x="612648" y="5788152"/>
            <a:ext cx="9509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ctr">
            <a:noAutofit/>
          </a:bodyPr>
          <a:lstStyle/>
          <a:p>
            <a:pPr algn="l" marL="0" indent="0">
              <a:buNone/>
            </a:pPr>
            <a:r>
              <a:rPr lang="ja-JP" sz="13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助成金は研修費用の支払い後に支給されます。いったん総額をお支払いいただく資金計画が必要です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3EC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F8A89"/>
          </a:solidFill>
          <a:ln>
            <a:noFill/>
          </a:ln>
        </p:spPr>
      </p:sp>
      <p:sp>
        <p:nvSpPr>
          <p:cNvPr id="12" name="Text 12"/>
          <p:cNvSpPr txBox="1"/>
          <p:nvPr/>
        </p:nvSpPr>
        <p:spPr>
          <a:xfrm>
            <a:off x="609600" y="400050"/>
            <a:ext cx="10572750" cy="59055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l" marL="0" indent="0">
              <a:buNone/>
            </a:pPr>
            <a:r>
              <a:rPr lang="ja-JP" sz="30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助成金を活用するための条件</a:t>
            </a:r>
          </a:p>
        </p:txBody>
      </p:sp>
      <p:sp>
        <p:nvSpPr>
          <p:cNvPr id="13" name="Shape 13"/>
          <p:cNvSpPr/>
          <p:nvPr/>
        </p:nvSpPr>
        <p:spPr>
          <a:xfrm>
            <a:off x="609600" y="1066800"/>
            <a:ext cx="10858500" cy="10972"/>
          </a:xfrm>
          <a:prstGeom prst="rect">
            <a:avLst/>
          </a:prstGeom>
          <a:solidFill>
            <a:srgbClr val="C9D2D8"/>
          </a:solidFill>
          <a:ln>
            <a:noFill/>
          </a:ln>
        </p:spPr>
      </p:sp>
      <p:sp>
        <p:nvSpPr>
          <p:cNvPr id="14" name="Text 14"/>
          <p:cNvSpPr txBox="1"/>
          <p:nvPr/>
        </p:nvSpPr>
        <p:spPr>
          <a:xfrm>
            <a:off x="11239500" y="6343650"/>
            <a:ext cx="457200" cy="2667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r" marL="0" indent="0">
              <a:buNone/>
            </a:pPr>
            <a:r>
              <a:rPr lang="ja-JP" sz="1200" b="0">
                <a:solidFill>
                  <a:srgbClr val="60717E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sp>
        <p:nvSpPr>
          <p:cNvPr id="15" name="Text 15"/>
          <p:cNvSpPr txBox="1"/>
          <p:nvPr/>
        </p:nvSpPr>
        <p:spPr>
          <a:xfrm>
            <a:off x="612648" y="1188720"/>
            <a:ext cx="3474720" cy="438912"/>
          </a:xfrm>
          <a:prstGeom prst="roundRect">
            <a:avLst>
              <a:gd name="adj" fmla="val 16000"/>
            </a:avLst>
          </a:prstGeom>
          <a:solidFill>
            <a:srgbClr val="1F8A89"/>
          </a:solidFill>
          <a:ln>
            <a:noFill/>
          </a:ln>
        </p:spPr>
        <p:txBody>
          <a:bodyPr wrap="square" lIns="45720" rIns="45720" tIns="27432" bIns="27432" anchor="ctr">
            <a:noAutofit/>
          </a:bodyPr>
          <a:lstStyle/>
          <a:p>
            <a:pPr algn="ctr" marL="0" indent="0">
              <a:buNone/>
            </a:pPr>
            <a:r>
              <a:rPr lang="ja-JP" sz="16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企業の条件</a:t>
            </a:r>
          </a:p>
        </p:txBody>
      </p:sp>
      <p:sp>
        <p:nvSpPr>
          <p:cNvPr id="16" name="Shape 16"/>
          <p:cNvSpPr/>
          <p:nvPr/>
        </p:nvSpPr>
        <p:spPr>
          <a:xfrm>
            <a:off x="612648" y="1719072"/>
            <a:ext cx="3474720" cy="3520440"/>
          </a:xfrm>
          <a:prstGeom prst="roundRect">
            <a:avLst>
              <a:gd name="adj" fmla="val 4000"/>
            </a:avLst>
          </a:prstGeom>
          <a:solidFill>
            <a:srgbClr val="E4F0EA"/>
          </a:solidFill>
          <a:ln>
            <a:noFill/>
          </a:ln>
        </p:spPr>
      </p:sp>
      <p:sp>
        <p:nvSpPr>
          <p:cNvPr id="17" name="Text 17"/>
          <p:cNvSpPr txBox="1"/>
          <p:nvPr/>
        </p:nvSpPr>
        <p:spPr>
          <a:xfrm>
            <a:off x="777240" y="1828800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l" marL="0" indent="0">
              <a:buNone/>
            </a:pPr>
            <a:r>
              <a:rPr lang="ja-JP" sz="1400" b="1">
                <a:solidFill>
                  <a:srgbClr val="1F8A89"/>
                </a:solidFill>
                <a:latin typeface="Noto Sans JP"/>
                <a:ea typeface="Noto Sans JP"/>
                <a:cs typeface="Noto Sans JP"/>
              </a:rPr>
              <a:t>✓ </a:t>
            </a:r>
            <a:r>
              <a:rPr lang="ja-JP" sz="14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中小企業に該当すること</a:t>
            </a:r>
          </a:p>
        </p:txBody>
      </p:sp>
      <p:sp>
        <p:nvSpPr>
          <p:cNvPr id="18" name="Text 18"/>
          <p:cNvSpPr txBox="1"/>
          <p:nvPr/>
        </p:nvSpPr>
        <p:spPr>
          <a:xfrm>
            <a:off x="777240" y="2194560"/>
            <a:ext cx="3154680" cy="685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l" marL="0" indent="0">
              <a:buNone/>
            </a:pPr>
            <a:r>
              <a:rPr lang="ja-JP" sz="1200" b="0">
                <a:solidFill>
                  <a:srgbClr val="1F2D36"/>
                </a:solidFill>
                <a:latin typeface="Noto Sans JP"/>
                <a:ea typeface="Noto Sans JP"/>
                <a:cs typeface="Noto Sans JP"/>
              </a:rPr>
              <a:t>建設業は資本金3億円以下 または 従業員300人以下。資本金8,000万円のため該当見込み</a:t>
            </a:r>
          </a:p>
        </p:txBody>
      </p:sp>
      <p:sp>
        <p:nvSpPr>
          <p:cNvPr id="19" name="Text 19"/>
          <p:cNvSpPr txBox="1"/>
          <p:nvPr/>
        </p:nvSpPr>
        <p:spPr>
          <a:xfrm>
            <a:off x="777240" y="2944368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l" marL="0" indent="0">
              <a:buNone/>
            </a:pPr>
            <a:r>
              <a:rPr lang="ja-JP" sz="1400" b="1">
                <a:solidFill>
                  <a:srgbClr val="1F8A89"/>
                </a:solidFill>
                <a:latin typeface="Noto Sans JP"/>
                <a:ea typeface="Noto Sans JP"/>
                <a:cs typeface="Noto Sans JP"/>
              </a:rPr>
              <a:t>✓ </a:t>
            </a:r>
            <a:r>
              <a:rPr lang="ja-JP" sz="14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雇用保険の適用事業所</a:t>
            </a:r>
          </a:p>
        </p:txBody>
      </p:sp>
      <p:sp>
        <p:nvSpPr>
          <p:cNvPr id="20" name="Text 20"/>
          <p:cNvSpPr txBox="1"/>
          <p:nvPr/>
        </p:nvSpPr>
        <p:spPr>
          <a:xfrm>
            <a:off x="777240" y="3310127"/>
            <a:ext cx="3154680" cy="685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l" marL="0" indent="0">
              <a:buNone/>
            </a:pPr>
            <a:r>
              <a:rPr lang="ja-JP" sz="1200" b="0">
                <a:solidFill>
                  <a:srgbClr val="1F2D36"/>
                </a:solidFill>
                <a:latin typeface="Noto Sans JP"/>
                <a:ea typeface="Noto Sans JP"/>
                <a:cs typeface="Noto Sans JP"/>
              </a:rPr>
              <a:t>受講者が雇用保険の被保険者であること</a:t>
            </a:r>
          </a:p>
        </p:txBody>
      </p:sp>
      <p:sp>
        <p:nvSpPr>
          <p:cNvPr id="21" name="Text 21"/>
          <p:cNvSpPr txBox="1"/>
          <p:nvPr/>
        </p:nvSpPr>
        <p:spPr>
          <a:xfrm>
            <a:off x="777240" y="4059935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l" marL="0" indent="0">
              <a:buNone/>
            </a:pPr>
            <a:r>
              <a:rPr lang="ja-JP" sz="1400" b="1">
                <a:solidFill>
                  <a:srgbClr val="1F8A89"/>
                </a:solidFill>
                <a:latin typeface="Noto Sans JP"/>
                <a:ea typeface="Noto Sans JP"/>
                <a:cs typeface="Noto Sans JP"/>
              </a:rPr>
              <a:t>✓ </a:t>
            </a:r>
            <a:r>
              <a:rPr lang="ja-JP" sz="14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社内体制の整備</a:t>
            </a:r>
          </a:p>
        </p:txBody>
      </p:sp>
      <p:sp>
        <p:nvSpPr>
          <p:cNvPr id="22" name="Text 22"/>
          <p:cNvSpPr txBox="1"/>
          <p:nvPr/>
        </p:nvSpPr>
        <p:spPr>
          <a:xfrm>
            <a:off x="777240" y="4425696"/>
            <a:ext cx="3154680" cy="685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l" marL="0" indent="0">
              <a:buNone/>
            </a:pPr>
            <a:r>
              <a:rPr lang="ja-JP" sz="1200" b="0">
                <a:solidFill>
                  <a:srgbClr val="1F2D36"/>
                </a:solidFill>
                <a:latin typeface="Noto Sans JP"/>
                <a:ea typeface="Noto Sans JP"/>
                <a:cs typeface="Noto Sans JP"/>
              </a:rPr>
              <a:t>職業能力開発推進者の選任と、事業内職業能力開発計画の作成・周知</a:t>
            </a:r>
          </a:p>
        </p:txBody>
      </p:sp>
      <p:sp>
        <p:nvSpPr>
          <p:cNvPr id="23" name="Text 23"/>
          <p:cNvSpPr txBox="1"/>
          <p:nvPr/>
        </p:nvSpPr>
        <p:spPr>
          <a:xfrm>
            <a:off x="4361688" y="1188720"/>
            <a:ext cx="3474720" cy="438912"/>
          </a:xfrm>
          <a:prstGeom prst="roundRect">
            <a:avLst>
              <a:gd name="adj" fmla="val 16000"/>
            </a:avLst>
          </a:prstGeom>
          <a:solidFill>
            <a:srgbClr val="102A43"/>
          </a:solidFill>
          <a:ln>
            <a:noFill/>
          </a:ln>
        </p:spPr>
        <p:txBody>
          <a:bodyPr wrap="square" lIns="45720" rIns="45720" tIns="27432" bIns="27432" anchor="ctr">
            <a:noAutofit/>
          </a:bodyPr>
          <a:lstStyle/>
          <a:p>
            <a:pPr algn="ctr" marL="0" indent="0">
              <a:buNone/>
            </a:pPr>
            <a:r>
              <a:rPr lang="ja-JP" sz="16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研修の条件</a:t>
            </a:r>
          </a:p>
        </p:txBody>
      </p:sp>
      <p:sp>
        <p:nvSpPr>
          <p:cNvPr id="24" name="Shape 24"/>
          <p:cNvSpPr/>
          <p:nvPr/>
        </p:nvSpPr>
        <p:spPr>
          <a:xfrm>
            <a:off x="4361688" y="1719072"/>
            <a:ext cx="3474720" cy="3520440"/>
          </a:xfrm>
          <a:prstGeom prst="roundRect">
            <a:avLst>
              <a:gd name="adj" fmla="val 4000"/>
            </a:avLst>
          </a:prstGeom>
          <a:solidFill>
            <a:srgbClr val="EAF0F3"/>
          </a:solidFill>
          <a:ln>
            <a:noFill/>
          </a:ln>
        </p:spPr>
      </p:sp>
      <p:sp>
        <p:nvSpPr>
          <p:cNvPr id="25" name="Text 25"/>
          <p:cNvSpPr txBox="1"/>
          <p:nvPr/>
        </p:nvSpPr>
        <p:spPr>
          <a:xfrm>
            <a:off x="4526279" y="1828800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l" marL="0" indent="0">
              <a:buNone/>
            </a:pPr>
            <a:r>
              <a:rPr lang="ja-JP" sz="14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✓ </a:t>
            </a:r>
            <a:r>
              <a:rPr lang="ja-JP" sz="14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OFF-JTで10時間以上</a:t>
            </a:r>
          </a:p>
        </p:txBody>
      </p:sp>
      <p:sp>
        <p:nvSpPr>
          <p:cNvPr id="26" name="Text 26"/>
          <p:cNvSpPr txBox="1"/>
          <p:nvPr/>
        </p:nvSpPr>
        <p:spPr>
          <a:xfrm>
            <a:off x="4526279" y="2194560"/>
            <a:ext cx="3154680" cy="685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l" marL="0" indent="0">
              <a:buNone/>
            </a:pPr>
            <a:r>
              <a:rPr lang="ja-JP" sz="1200" b="0">
                <a:solidFill>
                  <a:srgbClr val="1F2D36"/>
                </a:solidFill>
                <a:latin typeface="Noto Sans JP"/>
                <a:ea typeface="Noto Sans JP"/>
                <a:cs typeface="Noto Sans JP"/>
              </a:rPr>
              <a:t>本研修は1人12時間。所定労働時間内に実施し賃金を支払う</a:t>
            </a:r>
          </a:p>
        </p:txBody>
      </p:sp>
      <p:sp>
        <p:nvSpPr>
          <p:cNvPr id="27" name="Text 27"/>
          <p:cNvSpPr txBox="1"/>
          <p:nvPr/>
        </p:nvSpPr>
        <p:spPr>
          <a:xfrm>
            <a:off x="4526279" y="2944368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l" marL="0" indent="0">
              <a:buNone/>
            </a:pPr>
            <a:r>
              <a:rPr lang="ja-JP" sz="14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✓ </a:t>
            </a:r>
            <a:r>
              <a:rPr lang="ja-JP" sz="14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業務に直結するDX研修</a:t>
            </a:r>
          </a:p>
        </p:txBody>
      </p:sp>
      <p:sp>
        <p:nvSpPr>
          <p:cNvPr id="28" name="Text 28"/>
          <p:cNvSpPr txBox="1"/>
          <p:nvPr/>
        </p:nvSpPr>
        <p:spPr>
          <a:xfrm>
            <a:off x="4526279" y="3310127"/>
            <a:ext cx="3154680" cy="685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l" marL="0" indent="0">
              <a:buNone/>
            </a:pPr>
            <a:r>
              <a:rPr lang="ja-JP" sz="1200" b="0">
                <a:solidFill>
                  <a:srgbClr val="1F2D36"/>
                </a:solidFill>
                <a:latin typeface="Noto Sans JP"/>
                <a:ea typeface="Noto Sans JP"/>
                <a:cs typeface="Noto Sans JP"/>
              </a:rPr>
              <a:t>汎用的なAI研修は令和8年8月改正で対象外。本研修は積算業務の自動化ツール作成で設計</a:t>
            </a:r>
          </a:p>
        </p:txBody>
      </p:sp>
      <p:sp>
        <p:nvSpPr>
          <p:cNvPr id="29" name="Text 29"/>
          <p:cNvSpPr txBox="1"/>
          <p:nvPr/>
        </p:nvSpPr>
        <p:spPr>
          <a:xfrm>
            <a:off x="4526279" y="4059935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l" marL="0" indent="0">
              <a:buNone/>
            </a:pPr>
            <a:r>
              <a:rPr lang="ja-JP" sz="14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✓ </a:t>
            </a:r>
            <a:r>
              <a:rPr lang="ja-JP" sz="14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受講時間の8割以上を出席</a:t>
            </a:r>
          </a:p>
        </p:txBody>
      </p:sp>
      <p:sp>
        <p:nvSpPr>
          <p:cNvPr id="30" name="Text 30"/>
          <p:cNvSpPr txBox="1"/>
          <p:nvPr/>
        </p:nvSpPr>
        <p:spPr>
          <a:xfrm>
            <a:off x="4526279" y="4425696"/>
            <a:ext cx="3154680" cy="685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l" marL="0" indent="0">
              <a:buNone/>
            </a:pPr>
            <a:r>
              <a:rPr lang="ja-JP" sz="1200" b="0">
                <a:solidFill>
                  <a:srgbClr val="1F2D36"/>
                </a:solidFill>
                <a:latin typeface="Noto Sans JP"/>
                <a:ea typeface="Noto Sans JP"/>
                <a:cs typeface="Noto Sans JP"/>
              </a:rPr>
              <a:t>欠席分は補講等で調整。同一社員の受講は年度3回まで</a:t>
            </a:r>
          </a:p>
        </p:txBody>
      </p:sp>
      <p:sp>
        <p:nvSpPr>
          <p:cNvPr id="31" name="Text 31"/>
          <p:cNvSpPr txBox="1"/>
          <p:nvPr/>
        </p:nvSpPr>
        <p:spPr>
          <a:xfrm>
            <a:off x="8110727" y="1188720"/>
            <a:ext cx="3474720" cy="438912"/>
          </a:xfrm>
          <a:prstGeom prst="roundRect">
            <a:avLst>
              <a:gd name="adj" fmla="val 16000"/>
            </a:avLst>
          </a:prstGeom>
          <a:solidFill>
            <a:srgbClr val="D96C32"/>
          </a:solidFill>
          <a:ln>
            <a:noFill/>
          </a:ln>
        </p:spPr>
        <p:txBody>
          <a:bodyPr wrap="square" lIns="45720" rIns="45720" tIns="27432" bIns="27432" anchor="ctr">
            <a:noAutofit/>
          </a:bodyPr>
          <a:lstStyle/>
          <a:p>
            <a:pPr algn="ctr" marL="0" indent="0">
              <a:buNone/>
            </a:pPr>
            <a:r>
              <a:rPr lang="ja-JP" sz="16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手続き・費用の条件</a:t>
            </a:r>
          </a:p>
        </p:txBody>
      </p:sp>
      <p:sp>
        <p:nvSpPr>
          <p:cNvPr id="32" name="Shape 32"/>
          <p:cNvSpPr/>
          <p:nvPr/>
        </p:nvSpPr>
        <p:spPr>
          <a:xfrm>
            <a:off x="8110727" y="1719072"/>
            <a:ext cx="3474720" cy="3520440"/>
          </a:xfrm>
          <a:prstGeom prst="roundRect">
            <a:avLst>
              <a:gd name="adj" fmla="val 4000"/>
            </a:avLst>
          </a:prstGeom>
          <a:solidFill>
            <a:srgbClr val="F8E5DA"/>
          </a:solidFill>
          <a:ln>
            <a:noFill/>
          </a:ln>
        </p:spPr>
      </p:sp>
      <p:sp>
        <p:nvSpPr>
          <p:cNvPr id="33" name="Text 33"/>
          <p:cNvSpPr txBox="1"/>
          <p:nvPr/>
        </p:nvSpPr>
        <p:spPr>
          <a:xfrm>
            <a:off x="8275319" y="1828800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l" marL="0" indent="0">
              <a:buNone/>
            </a:pPr>
            <a:r>
              <a:rPr lang="ja-JP" sz="1400" b="1">
                <a:solidFill>
                  <a:srgbClr val="D96C32"/>
                </a:solidFill>
                <a:latin typeface="Noto Sans JP"/>
                <a:ea typeface="Noto Sans JP"/>
                <a:cs typeface="Noto Sans JP"/>
              </a:rPr>
              <a:t>✓ </a:t>
            </a:r>
            <a:r>
              <a:rPr lang="ja-JP" sz="14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研修開始の1か月前までに計画届</a:t>
            </a:r>
          </a:p>
        </p:txBody>
      </p:sp>
      <p:sp>
        <p:nvSpPr>
          <p:cNvPr id="34" name="Text 34"/>
          <p:cNvSpPr txBox="1"/>
          <p:nvPr/>
        </p:nvSpPr>
        <p:spPr>
          <a:xfrm>
            <a:off x="8275319" y="2194560"/>
            <a:ext cx="3154680" cy="685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l" marL="0" indent="0">
              <a:buNone/>
            </a:pPr>
            <a:r>
              <a:rPr lang="ja-JP" sz="1200" b="0">
                <a:solidFill>
                  <a:srgbClr val="1F2D36"/>
                </a:solidFill>
                <a:latin typeface="Noto Sans JP"/>
                <a:ea typeface="Noto Sans JP"/>
                <a:cs typeface="Noto Sans JP"/>
              </a:rPr>
              <a:t>開始日の6か月前〜1か月前に管轄労働局へ提出</a:t>
            </a:r>
          </a:p>
        </p:txBody>
      </p:sp>
      <p:sp>
        <p:nvSpPr>
          <p:cNvPr id="35" name="Text 35"/>
          <p:cNvSpPr txBox="1"/>
          <p:nvPr/>
        </p:nvSpPr>
        <p:spPr>
          <a:xfrm>
            <a:off x="8275319" y="2944368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l" marL="0" indent="0">
              <a:buNone/>
            </a:pPr>
            <a:r>
              <a:rPr lang="ja-JP" sz="1400" b="1">
                <a:solidFill>
                  <a:srgbClr val="D96C32"/>
                </a:solidFill>
                <a:latin typeface="Noto Sans JP"/>
                <a:ea typeface="Noto Sans JP"/>
                <a:cs typeface="Noto Sans JP"/>
              </a:rPr>
              <a:t>✓ </a:t>
            </a:r>
            <a:r>
              <a:rPr lang="ja-JP" sz="14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受講料は御社が全額負担</a:t>
            </a:r>
          </a:p>
        </p:txBody>
      </p:sp>
      <p:sp>
        <p:nvSpPr>
          <p:cNvPr id="36" name="Text 36"/>
          <p:cNvSpPr txBox="1"/>
          <p:nvPr/>
        </p:nvSpPr>
        <p:spPr>
          <a:xfrm>
            <a:off x="8275319" y="3310127"/>
            <a:ext cx="3154680" cy="685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l" marL="0" indent="0">
              <a:buNone/>
            </a:pPr>
            <a:r>
              <a:rPr lang="ja-JP" sz="1200" b="0">
                <a:solidFill>
                  <a:srgbClr val="1F2D36"/>
                </a:solidFill>
                <a:latin typeface="Noto Sans JP"/>
                <a:ea typeface="Noto Sans JP"/>
                <a:cs typeface="Noto Sans JP"/>
              </a:rPr>
              <a:t>支払い完了が必要。研修会社からの還元・値引きがあると不支給</a:t>
            </a:r>
          </a:p>
        </p:txBody>
      </p:sp>
      <p:sp>
        <p:nvSpPr>
          <p:cNvPr id="37" name="Text 37"/>
          <p:cNvSpPr txBox="1"/>
          <p:nvPr/>
        </p:nvSpPr>
        <p:spPr>
          <a:xfrm>
            <a:off x="8275319" y="4059935"/>
            <a:ext cx="31546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l" marL="0" indent="0">
              <a:buNone/>
            </a:pPr>
            <a:r>
              <a:rPr lang="ja-JP" sz="1400" b="1">
                <a:solidFill>
                  <a:srgbClr val="D96C32"/>
                </a:solidFill>
                <a:latin typeface="Noto Sans JP"/>
                <a:ea typeface="Noto Sans JP"/>
                <a:cs typeface="Noto Sans JP"/>
              </a:rPr>
              <a:t>✓ </a:t>
            </a:r>
            <a:r>
              <a:rPr lang="ja-JP" sz="14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修了後2か月以内に支給申請</a:t>
            </a:r>
          </a:p>
        </p:txBody>
      </p:sp>
      <p:sp>
        <p:nvSpPr>
          <p:cNvPr id="38" name="Text 38"/>
          <p:cNvSpPr txBox="1"/>
          <p:nvPr/>
        </p:nvSpPr>
        <p:spPr>
          <a:xfrm>
            <a:off x="8275319" y="4425696"/>
            <a:ext cx="3154680" cy="685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l" marL="0" indent="0">
              <a:buNone/>
            </a:pPr>
            <a:r>
              <a:rPr lang="ja-JP" sz="1200" b="0">
                <a:solidFill>
                  <a:srgbClr val="1F2D36"/>
                </a:solidFill>
                <a:latin typeface="Noto Sans JP"/>
                <a:ea typeface="Noto Sans JP"/>
                <a:cs typeface="Noto Sans JP"/>
              </a:rPr>
              <a:t>出席簿・賃金台帳・領収書等の保存と提出</a:t>
            </a:r>
          </a:p>
        </p:txBody>
      </p:sp>
      <p:sp>
        <p:nvSpPr>
          <p:cNvPr id="39" name="Text 39"/>
          <p:cNvSpPr txBox="1"/>
          <p:nvPr/>
        </p:nvSpPr>
        <p:spPr>
          <a:xfrm>
            <a:off x="612648" y="5413248"/>
            <a:ext cx="10927080" cy="438912"/>
          </a:xfrm>
          <a:prstGeom prst="roundRect">
            <a:avLst>
              <a:gd name="adj" fmla="val 10000"/>
            </a:avLst>
          </a:prstGeom>
          <a:solidFill>
            <a:srgbClr val="102A43"/>
          </a:solidFill>
          <a:ln>
            <a:noFill/>
          </a:ln>
        </p:spPr>
        <p:txBody>
          <a:bodyPr wrap="square" lIns="45720" rIns="45720" tIns="27432" bIns="27432" anchor="ctr">
            <a:noAutofit/>
          </a:bodyPr>
          <a:lstStyle/>
          <a:p>
            <a:pPr algn="ctr" marL="0" indent="0">
              <a:buNone/>
            </a:pPr>
            <a:r>
              <a:rPr lang="ja-JP"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制度は令和8年度までの予定。日程確定後すぐに計画届の準備を始めます</a:t>
            </a:r>
          </a:p>
        </p:txBody>
      </p:sp>
      <p:sp>
        <p:nvSpPr>
          <p:cNvPr id="40" name="Text 40"/>
          <p:cNvSpPr txBox="1"/>
          <p:nvPr/>
        </p:nvSpPr>
        <p:spPr>
          <a:xfrm>
            <a:off x="612648" y="5879592"/>
            <a:ext cx="95097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l" marL="0" indent="0">
              <a:buNone/>
            </a:pPr>
            <a:r>
              <a:rPr lang="ja-JP" sz="1100" b="0">
                <a:solidFill>
                  <a:srgbClr val="60717E"/>
                </a:solidFill>
                <a:latin typeface="Noto Sans JP"/>
                <a:ea typeface="Noto Sans JP"/>
                <a:cs typeface="Noto Sans JP"/>
              </a:rPr>
              <a:t>※ 2026年10月時点の公開情報に基づく概要です。申請可否・支給額は管轄労働局および社会保険労務士にご確認ください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